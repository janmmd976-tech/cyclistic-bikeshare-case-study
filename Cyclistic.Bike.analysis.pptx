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Poppins" panose="020B0604020202020204" charset="0"/>
      <p:regular r:id="rId15"/>
    </p:embeddedFont>
    <p:embeddedFont>
      <p:font typeface="Helvetica World" panose="020B0604020202020204" charset="-128"/>
      <p:regular r:id="rId16"/>
    </p:embeddedFont>
    <p:embeddedFont>
      <p:font typeface="Helvetica World Bold" panose="020B0604020202020204" charset="-128"/>
      <p:regular r:id="rId17"/>
    </p:embeddedFont>
    <p:embeddedFont>
      <p:font typeface="Calibri" panose="020F0502020204030204" pitchFamily="34" charset="0"/>
      <p:regular r:id="rId18"/>
      <p:bold r:id="rId19"/>
      <p:italic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3" d="100"/>
          <a:sy n="53" d="100"/>
        </p:scale>
        <p:origin x="701"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5.png"/><Relationship Id="rId7"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9.svg"/><Relationship Id="rId4" Type="http://schemas.openxmlformats.org/officeDocument/2006/relationships/image" Target="../media/image6.png"/><Relationship Id="rId9"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3.sv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png"/><Relationship Id="rId7" Type="http://schemas.openxmlformats.org/officeDocument/2006/relationships/image" Target="../media/image18.sv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6.sv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8.sv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8.sv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18.sv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1.sv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5.png"/><Relationship Id="rId7" Type="http://schemas.openxmlformats.org/officeDocument/2006/relationships/image" Target="../media/image16.sv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11.svg"/><Relationship Id="rId10" Type="http://schemas.openxmlformats.org/officeDocument/2006/relationships/image" Target="../media/image16.png"/><Relationship Id="rId4" Type="http://schemas.openxmlformats.org/officeDocument/2006/relationships/image" Target="../media/image7.png"/><Relationship Id="rId9" Type="http://schemas.openxmlformats.org/officeDocument/2006/relationships/image" Target="../media/image18.sv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3.sv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6.sv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1.sv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28.sv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0.sv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1.sv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3123740" y="1472267"/>
            <a:ext cx="9913688" cy="9913688"/>
          </a:xfrm>
          <a:custGeom>
            <a:avLst/>
            <a:gdLst/>
            <a:ahLst/>
            <a:cxnLst/>
            <a:rect l="l" t="t" r="r" b="b"/>
            <a:pathLst>
              <a:path w="9913688" h="9913688">
                <a:moveTo>
                  <a:pt x="0" y="0"/>
                </a:moveTo>
                <a:lnTo>
                  <a:pt x="9913688" y="0"/>
                </a:lnTo>
                <a:lnTo>
                  <a:pt x="9913688" y="9913687"/>
                </a:lnTo>
                <a:lnTo>
                  <a:pt x="0" y="9913687"/>
                </a:lnTo>
                <a:lnTo>
                  <a:pt x="0" y="0"/>
                </a:lnTo>
                <a:close/>
              </a:path>
            </a:pathLst>
          </a:custGeom>
          <a:blipFill>
            <a:blip r:embed="rId3">
              <a:alphaModFix amt="5000"/>
              <a:extLst>
                <a:ext uri="{96DAC541-7B7A-43D3-8B79-37D633B846F1}">
                  <asvg:svgBlip xmlns:asvg="http://schemas.microsoft.com/office/drawing/2016/SVG/main" xmlns="" r:embed="rId4"/>
                </a:ext>
              </a:extLst>
            </a:blip>
            <a:stretch>
              <a:fillRect/>
            </a:stretch>
          </a:blipFill>
        </p:spPr>
      </p:sp>
      <p:sp>
        <p:nvSpPr>
          <p:cNvPr id="4" name="Freeform 4"/>
          <p:cNvSpPr/>
          <p:nvPr/>
        </p:nvSpPr>
        <p:spPr>
          <a:xfrm>
            <a:off x="10870823" y="513381"/>
            <a:ext cx="8744919" cy="8744919"/>
          </a:xfrm>
          <a:custGeom>
            <a:avLst/>
            <a:gdLst/>
            <a:ahLst/>
            <a:cxnLst/>
            <a:rect l="l" t="t" r="r" b="b"/>
            <a:pathLst>
              <a:path w="8744919" h="8744919">
                <a:moveTo>
                  <a:pt x="0" y="0"/>
                </a:moveTo>
                <a:lnTo>
                  <a:pt x="8744919" y="0"/>
                </a:lnTo>
                <a:lnTo>
                  <a:pt x="8744919" y="8744919"/>
                </a:lnTo>
                <a:lnTo>
                  <a:pt x="0" y="8744919"/>
                </a:lnTo>
                <a:lnTo>
                  <a:pt x="0" y="0"/>
                </a:lnTo>
                <a:close/>
              </a:path>
            </a:pathLst>
          </a:custGeom>
          <a:blipFill>
            <a:blip r:embed="rId5">
              <a:alphaModFix amt="5000"/>
              <a:extLst>
                <a:ext uri="{96DAC541-7B7A-43D3-8B79-37D633B846F1}">
                  <asvg:svgBlip xmlns:asvg="http://schemas.microsoft.com/office/drawing/2016/SVG/main" xmlns="" r:embed="rId6"/>
                </a:ext>
              </a:extLst>
            </a:blip>
            <a:stretch>
              <a:fillRect/>
            </a:stretch>
          </a:blipFill>
          <a:ln cap="sq">
            <a:noFill/>
            <a:prstDash val="solid"/>
            <a:miter/>
          </a:ln>
        </p:spPr>
      </p:sp>
      <p:sp>
        <p:nvSpPr>
          <p:cNvPr id="5" name="TextBox 5"/>
          <p:cNvSpPr txBox="1"/>
          <p:nvPr/>
        </p:nvSpPr>
        <p:spPr>
          <a:xfrm>
            <a:off x="1890591" y="2473794"/>
            <a:ext cx="14506817" cy="2412047"/>
          </a:xfrm>
          <a:prstGeom prst="rect">
            <a:avLst/>
          </a:prstGeom>
        </p:spPr>
        <p:txBody>
          <a:bodyPr lIns="0" tIns="0" rIns="0" bIns="0" rtlCol="0" anchor="t">
            <a:spAutoFit/>
          </a:bodyPr>
          <a:lstStyle/>
          <a:p>
            <a:pPr marL="0" lvl="1" indent="0" algn="ctr">
              <a:lnSpc>
                <a:spcPts val="9457"/>
              </a:lnSpc>
            </a:pPr>
            <a:r>
              <a:rPr lang="en-US" sz="8083" spc="-113">
                <a:solidFill>
                  <a:srgbClr val="00694C"/>
                </a:solidFill>
                <a:latin typeface="Helvetica World"/>
                <a:ea typeface="Helvetica World"/>
                <a:cs typeface="Helvetica World"/>
                <a:sym typeface="Helvetica World"/>
              </a:rPr>
              <a:t>CYCLISTIC BIKE-SHARE ANALYSIS</a:t>
            </a:r>
          </a:p>
        </p:txBody>
      </p:sp>
      <p:sp>
        <p:nvSpPr>
          <p:cNvPr id="6" name="TextBox 6"/>
          <p:cNvSpPr txBox="1"/>
          <p:nvPr/>
        </p:nvSpPr>
        <p:spPr>
          <a:xfrm>
            <a:off x="1691319" y="7054400"/>
            <a:ext cx="10818117" cy="374446"/>
          </a:xfrm>
          <a:prstGeom prst="rect">
            <a:avLst/>
          </a:prstGeom>
        </p:spPr>
        <p:txBody>
          <a:bodyPr lIns="0" tIns="0" rIns="0" bIns="0" rtlCol="0" anchor="t">
            <a:spAutoFit/>
          </a:bodyPr>
          <a:lstStyle/>
          <a:p>
            <a:pPr marL="0" lvl="1" indent="0" algn="l">
              <a:lnSpc>
                <a:spcPts val="2545"/>
              </a:lnSpc>
            </a:pPr>
            <a:r>
              <a:rPr lang="en-US" sz="2828" spc="-130">
                <a:solidFill>
                  <a:srgbClr val="00694C"/>
                </a:solidFill>
                <a:latin typeface="Poppins"/>
                <a:ea typeface="Poppins"/>
                <a:cs typeface="Poppins"/>
                <a:sym typeface="Poppins"/>
              </a:rPr>
              <a:t>Presented by: Mohammad Usman Ali</a:t>
            </a:r>
          </a:p>
        </p:txBody>
      </p:sp>
      <p:sp>
        <p:nvSpPr>
          <p:cNvPr id="7" name="TextBox 7"/>
          <p:cNvSpPr txBox="1"/>
          <p:nvPr/>
        </p:nvSpPr>
        <p:spPr>
          <a:xfrm>
            <a:off x="1691319" y="7691796"/>
            <a:ext cx="10818117" cy="374446"/>
          </a:xfrm>
          <a:prstGeom prst="rect">
            <a:avLst/>
          </a:prstGeom>
        </p:spPr>
        <p:txBody>
          <a:bodyPr lIns="0" tIns="0" rIns="0" bIns="0" rtlCol="0" anchor="t">
            <a:spAutoFit/>
          </a:bodyPr>
          <a:lstStyle/>
          <a:p>
            <a:pPr marL="0" lvl="1" indent="0" algn="l">
              <a:lnSpc>
                <a:spcPts val="2545"/>
              </a:lnSpc>
            </a:pPr>
            <a:r>
              <a:rPr lang="en-US" sz="2828" spc="-130">
                <a:solidFill>
                  <a:srgbClr val="00694C"/>
                </a:solidFill>
                <a:latin typeface="Poppins"/>
                <a:ea typeface="Poppins"/>
                <a:cs typeface="Poppins"/>
                <a:sym typeface="Poppins"/>
              </a:rPr>
              <a:t>Last Updated: 9/1/2025</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83416" b="-83416"/>
            </a:stretch>
          </a:blipFill>
        </p:spPr>
      </p:sp>
      <p:sp>
        <p:nvSpPr>
          <p:cNvPr id="3" name="Freeform 3"/>
          <p:cNvSpPr/>
          <p:nvPr/>
        </p:nvSpPr>
        <p:spPr>
          <a:xfrm>
            <a:off x="12320797" y="5482866"/>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alphaModFix amt="80000"/>
            </a:blip>
            <a:stretch>
              <a:fillRect/>
            </a:stretch>
          </a:blipFill>
        </p:spPr>
      </p:sp>
      <p:sp>
        <p:nvSpPr>
          <p:cNvPr id="4" name="Freeform 4"/>
          <p:cNvSpPr/>
          <p:nvPr/>
        </p:nvSpPr>
        <p:spPr>
          <a:xfrm>
            <a:off x="-4639569" y="-2491296"/>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alphaModFix amt="50000"/>
            </a:blip>
            <a:stretch>
              <a:fillRect/>
            </a:stretch>
          </a:blipFill>
        </p:spPr>
      </p:sp>
      <p:sp>
        <p:nvSpPr>
          <p:cNvPr id="5" name="Freeform 5"/>
          <p:cNvSpPr/>
          <p:nvPr/>
        </p:nvSpPr>
        <p:spPr>
          <a:xfrm>
            <a:off x="-1222989" y="5414843"/>
            <a:ext cx="6553869" cy="5576747"/>
          </a:xfrm>
          <a:custGeom>
            <a:avLst/>
            <a:gdLst/>
            <a:ahLst/>
            <a:cxnLst/>
            <a:rect l="l" t="t" r="r" b="b"/>
            <a:pathLst>
              <a:path w="6553869" h="5576747">
                <a:moveTo>
                  <a:pt x="0" y="0"/>
                </a:moveTo>
                <a:lnTo>
                  <a:pt x="6553869" y="0"/>
                </a:lnTo>
                <a:lnTo>
                  <a:pt x="6553869" y="5576747"/>
                </a:lnTo>
                <a:lnTo>
                  <a:pt x="0" y="5576747"/>
                </a:lnTo>
                <a:lnTo>
                  <a:pt x="0" y="0"/>
                </a:lnTo>
                <a:close/>
              </a:path>
            </a:pathLst>
          </a:custGeom>
          <a:blipFill>
            <a:blip r:embed="rId4">
              <a:alphaModFix amt="9999"/>
              <a:extLst>
                <a:ext uri="{96DAC541-7B7A-43D3-8B79-37D633B846F1}">
                  <asvg:svgBlip xmlns:asvg="http://schemas.microsoft.com/office/drawing/2016/SVG/main" xmlns="" r:embed="rId5"/>
                </a:ext>
              </a:extLst>
            </a:blip>
            <a:stretch>
              <a:fillRect/>
            </a:stretch>
          </a:blipFill>
        </p:spPr>
      </p:sp>
      <p:sp>
        <p:nvSpPr>
          <p:cNvPr id="6" name="Freeform 6"/>
          <p:cNvSpPr/>
          <p:nvPr/>
        </p:nvSpPr>
        <p:spPr>
          <a:xfrm>
            <a:off x="14699234" y="68875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alphaModFix amt="9999"/>
              <a:extLst>
                <a:ext uri="{96DAC541-7B7A-43D3-8B79-37D633B846F1}">
                  <asvg:svgBlip xmlns:asvg="http://schemas.microsoft.com/office/drawing/2016/SVG/main" xmlns="" r:embed="rId7"/>
                </a:ext>
              </a:extLst>
            </a:blip>
            <a:stretch>
              <a:fillRect/>
            </a:stretch>
          </a:blipFill>
        </p:spPr>
      </p:sp>
      <p:sp>
        <p:nvSpPr>
          <p:cNvPr id="7" name="Freeform 7"/>
          <p:cNvSpPr/>
          <p:nvPr/>
        </p:nvSpPr>
        <p:spPr>
          <a:xfrm>
            <a:off x="16435597" y="8434597"/>
            <a:ext cx="823703" cy="823703"/>
          </a:xfrm>
          <a:custGeom>
            <a:avLst/>
            <a:gdLst/>
            <a:ahLst/>
            <a:cxnLst/>
            <a:rect l="l" t="t" r="r" b="b"/>
            <a:pathLst>
              <a:path w="823703" h="823703">
                <a:moveTo>
                  <a:pt x="0" y="0"/>
                </a:moveTo>
                <a:lnTo>
                  <a:pt x="823703" y="0"/>
                </a:lnTo>
                <a:lnTo>
                  <a:pt x="823703" y="823703"/>
                </a:lnTo>
                <a:lnTo>
                  <a:pt x="0" y="823703"/>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8" name="TextBox 8"/>
          <p:cNvSpPr txBox="1"/>
          <p:nvPr/>
        </p:nvSpPr>
        <p:spPr>
          <a:xfrm>
            <a:off x="2708092" y="1358609"/>
            <a:ext cx="12871816" cy="1387542"/>
          </a:xfrm>
          <a:prstGeom prst="rect">
            <a:avLst/>
          </a:prstGeom>
        </p:spPr>
        <p:txBody>
          <a:bodyPr lIns="0" tIns="0" rIns="0" bIns="0" rtlCol="0" anchor="t">
            <a:spAutoFit/>
          </a:bodyPr>
          <a:lstStyle/>
          <a:p>
            <a:pPr marL="0" lvl="1" indent="0" algn="ctr">
              <a:lnSpc>
                <a:spcPts val="10745"/>
              </a:lnSpc>
            </a:pPr>
            <a:r>
              <a:rPr lang="en-US" sz="9184" spc="-128">
                <a:solidFill>
                  <a:srgbClr val="00694C"/>
                </a:solidFill>
                <a:latin typeface="Helvetica World"/>
                <a:ea typeface="Helvetica World"/>
                <a:cs typeface="Helvetica World"/>
                <a:sym typeface="Helvetica World"/>
              </a:rPr>
              <a:t>Business Task Statement</a:t>
            </a:r>
          </a:p>
        </p:txBody>
      </p:sp>
      <p:sp>
        <p:nvSpPr>
          <p:cNvPr id="9" name="TextBox 9"/>
          <p:cNvSpPr txBox="1"/>
          <p:nvPr/>
        </p:nvSpPr>
        <p:spPr>
          <a:xfrm>
            <a:off x="1556436" y="4258201"/>
            <a:ext cx="15175128" cy="3147841"/>
          </a:xfrm>
          <a:prstGeom prst="rect">
            <a:avLst/>
          </a:prstGeom>
        </p:spPr>
        <p:txBody>
          <a:bodyPr lIns="0" tIns="0" rIns="0" bIns="0" rtlCol="0" anchor="t">
            <a:spAutoFit/>
          </a:bodyPr>
          <a:lstStyle/>
          <a:p>
            <a:pPr algn="ctr">
              <a:lnSpc>
                <a:spcPts val="4996"/>
              </a:lnSpc>
            </a:pPr>
            <a:r>
              <a:rPr lang="en-US" sz="3569">
                <a:solidFill>
                  <a:srgbClr val="00694C"/>
                </a:solidFill>
                <a:latin typeface="Poppins"/>
                <a:ea typeface="Poppins"/>
                <a:cs typeface="Poppins"/>
                <a:sym typeface="Poppins"/>
              </a:rPr>
              <a:t>The objective of this analysis is to identify key behavioral differences between annual members and casual riders of Cyclistic bikes in order to develop data-driven marketing strategies that will increase the conversion of casual riders into annual members.</a:t>
            </a:r>
          </a:p>
        </p:txBody>
      </p:sp>
      <p:sp>
        <p:nvSpPr>
          <p:cNvPr id="10" name="AutoShape 10"/>
          <p:cNvSpPr/>
          <p:nvPr/>
        </p:nvSpPr>
        <p:spPr>
          <a:xfrm>
            <a:off x="2948203" y="2746151"/>
            <a:ext cx="12631705" cy="0"/>
          </a:xfrm>
          <a:prstGeom prst="line">
            <a:avLst/>
          </a:prstGeom>
          <a:ln w="19050" cap="flat">
            <a:solidFill>
              <a:srgbClr val="00694C"/>
            </a:solidFill>
            <a:prstDash val="solid"/>
            <a:headEnd type="none" w="sm" len="sm"/>
            <a:tailEnd type="none" w="sm" len="sm"/>
          </a:ln>
        </p:spPr>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10574143" y="-41148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alphaModFix amt="50000"/>
            </a:blip>
            <a:stretch>
              <a:fillRect/>
            </a:stretch>
          </a:blipFill>
        </p:spPr>
      </p:sp>
      <p:sp>
        <p:nvSpPr>
          <p:cNvPr id="4" name="Freeform 4"/>
          <p:cNvSpPr/>
          <p:nvPr/>
        </p:nvSpPr>
        <p:spPr>
          <a:xfrm>
            <a:off x="-2820091" y="5985737"/>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alphaModFix amt="80000"/>
            </a:blip>
            <a:stretch>
              <a:fillRect/>
            </a:stretch>
          </a:blipFill>
        </p:spPr>
      </p:sp>
      <p:sp>
        <p:nvSpPr>
          <p:cNvPr id="5" name="Freeform 5"/>
          <p:cNvSpPr/>
          <p:nvPr/>
        </p:nvSpPr>
        <p:spPr>
          <a:xfrm>
            <a:off x="12827620" y="1028700"/>
            <a:ext cx="6333399" cy="6333399"/>
          </a:xfrm>
          <a:custGeom>
            <a:avLst/>
            <a:gdLst/>
            <a:ahLst/>
            <a:cxnLst/>
            <a:rect l="l" t="t" r="r" b="b"/>
            <a:pathLst>
              <a:path w="6333399" h="6333399">
                <a:moveTo>
                  <a:pt x="0" y="0"/>
                </a:moveTo>
                <a:lnTo>
                  <a:pt x="6333399" y="0"/>
                </a:lnTo>
                <a:lnTo>
                  <a:pt x="6333399" y="6333399"/>
                </a:lnTo>
                <a:lnTo>
                  <a:pt x="0" y="6333399"/>
                </a:lnTo>
                <a:lnTo>
                  <a:pt x="0" y="0"/>
                </a:lnTo>
                <a:close/>
              </a:path>
            </a:pathLst>
          </a:custGeom>
          <a:blipFill>
            <a:blip r:embed="rId4">
              <a:alphaModFix amt="9999"/>
              <a:extLst>
                <a:ext uri="{96DAC541-7B7A-43D3-8B79-37D633B846F1}">
                  <asvg:svgBlip xmlns:asvg="http://schemas.microsoft.com/office/drawing/2016/SVG/main" xmlns="" r:embed="rId5"/>
                </a:ext>
              </a:extLst>
            </a:blip>
            <a:stretch>
              <a:fillRect/>
            </a:stretch>
          </a:blipFill>
        </p:spPr>
      </p:sp>
      <p:sp>
        <p:nvSpPr>
          <p:cNvPr id="6" name="TextBox 6"/>
          <p:cNvSpPr txBox="1"/>
          <p:nvPr/>
        </p:nvSpPr>
        <p:spPr>
          <a:xfrm>
            <a:off x="2166372" y="736725"/>
            <a:ext cx="10661248" cy="1387542"/>
          </a:xfrm>
          <a:prstGeom prst="rect">
            <a:avLst/>
          </a:prstGeom>
        </p:spPr>
        <p:txBody>
          <a:bodyPr lIns="0" tIns="0" rIns="0" bIns="0" rtlCol="0" anchor="t">
            <a:spAutoFit/>
          </a:bodyPr>
          <a:lstStyle/>
          <a:p>
            <a:pPr marL="0" lvl="1" indent="0" algn="l">
              <a:lnSpc>
                <a:spcPts val="10745"/>
              </a:lnSpc>
            </a:pPr>
            <a:r>
              <a:rPr lang="en-US" sz="9184" spc="-128">
                <a:solidFill>
                  <a:srgbClr val="00694C"/>
                </a:solidFill>
                <a:latin typeface="Helvetica World"/>
                <a:ea typeface="Helvetica World"/>
                <a:cs typeface="Helvetica World"/>
                <a:sym typeface="Helvetica World"/>
              </a:rPr>
              <a:t>Overview of the data</a:t>
            </a:r>
          </a:p>
        </p:txBody>
      </p:sp>
      <p:sp>
        <p:nvSpPr>
          <p:cNvPr id="7" name="AutoShape 7"/>
          <p:cNvSpPr/>
          <p:nvPr/>
        </p:nvSpPr>
        <p:spPr>
          <a:xfrm flipV="1">
            <a:off x="2346452" y="2459657"/>
            <a:ext cx="9280639" cy="0"/>
          </a:xfrm>
          <a:prstGeom prst="line">
            <a:avLst/>
          </a:prstGeom>
          <a:ln w="19050" cap="flat">
            <a:solidFill>
              <a:srgbClr val="00694C"/>
            </a:solidFill>
            <a:prstDash val="solid"/>
            <a:headEnd type="none" w="sm" len="sm"/>
            <a:tailEnd type="none" w="sm" len="sm"/>
          </a:ln>
        </p:spPr>
      </p:sp>
      <p:sp>
        <p:nvSpPr>
          <p:cNvPr id="8" name="TextBox 8"/>
          <p:cNvSpPr txBox="1"/>
          <p:nvPr/>
        </p:nvSpPr>
        <p:spPr>
          <a:xfrm>
            <a:off x="1648641" y="2802557"/>
            <a:ext cx="15610659" cy="596770"/>
          </a:xfrm>
          <a:prstGeom prst="rect">
            <a:avLst/>
          </a:prstGeom>
        </p:spPr>
        <p:txBody>
          <a:bodyPr lIns="0" tIns="0" rIns="0" bIns="0" rtlCol="0" anchor="t">
            <a:spAutoFit/>
          </a:bodyPr>
          <a:lstStyle/>
          <a:p>
            <a:pPr marL="0" lvl="1" indent="0" algn="l">
              <a:lnSpc>
                <a:spcPts val="4576"/>
              </a:lnSpc>
            </a:pPr>
            <a:r>
              <a:rPr lang="en-US" sz="3979" spc="-183" dirty="0">
                <a:solidFill>
                  <a:srgbClr val="00694C"/>
                </a:solidFill>
                <a:latin typeface="Helvetica World"/>
                <a:ea typeface="Helvetica World"/>
                <a:cs typeface="Helvetica World"/>
                <a:sym typeface="Helvetica World"/>
              </a:rPr>
              <a:t>Data Source: </a:t>
            </a:r>
            <a:r>
              <a:rPr lang="en-US" sz="3979" spc="-183" dirty="0" err="1">
                <a:solidFill>
                  <a:srgbClr val="00694C"/>
                </a:solidFill>
                <a:latin typeface="Helvetica World"/>
                <a:ea typeface="Helvetica World"/>
                <a:cs typeface="Helvetica World"/>
                <a:sym typeface="Helvetica World"/>
              </a:rPr>
              <a:t>Cyclistic</a:t>
            </a:r>
            <a:r>
              <a:rPr lang="en-US" sz="3979" spc="-183" dirty="0">
                <a:solidFill>
                  <a:srgbClr val="00694C"/>
                </a:solidFill>
                <a:latin typeface="Helvetica World"/>
                <a:ea typeface="Helvetica World"/>
                <a:cs typeface="Helvetica World"/>
                <a:sym typeface="Helvetica World"/>
              </a:rPr>
              <a:t> trip history (public dataset by Motivate International Inc.)</a:t>
            </a:r>
          </a:p>
        </p:txBody>
      </p:sp>
      <p:sp>
        <p:nvSpPr>
          <p:cNvPr id="9" name="TextBox 9"/>
          <p:cNvSpPr txBox="1"/>
          <p:nvPr/>
        </p:nvSpPr>
        <p:spPr>
          <a:xfrm>
            <a:off x="1648641" y="3821177"/>
            <a:ext cx="15610659" cy="596770"/>
          </a:xfrm>
          <a:prstGeom prst="rect">
            <a:avLst/>
          </a:prstGeom>
        </p:spPr>
        <p:txBody>
          <a:bodyPr lIns="0" tIns="0" rIns="0" bIns="0" rtlCol="0" anchor="t">
            <a:spAutoFit/>
          </a:bodyPr>
          <a:lstStyle/>
          <a:p>
            <a:pPr marL="0" lvl="1" indent="0" algn="l">
              <a:lnSpc>
                <a:spcPts val="4576"/>
              </a:lnSpc>
            </a:pPr>
            <a:r>
              <a:rPr lang="en-US" sz="3979" spc="-183" dirty="0">
                <a:solidFill>
                  <a:srgbClr val="00694C"/>
                </a:solidFill>
                <a:latin typeface="Helvetica World"/>
                <a:ea typeface="Helvetica World"/>
                <a:cs typeface="Helvetica World"/>
                <a:sym typeface="Helvetica World"/>
              </a:rPr>
              <a:t>Time Period: January 2025 - December 2025</a:t>
            </a:r>
          </a:p>
        </p:txBody>
      </p:sp>
      <p:sp>
        <p:nvSpPr>
          <p:cNvPr id="10" name="TextBox 10"/>
          <p:cNvSpPr txBox="1"/>
          <p:nvPr/>
        </p:nvSpPr>
        <p:spPr>
          <a:xfrm>
            <a:off x="1648641" y="4849877"/>
            <a:ext cx="15610659" cy="596770"/>
          </a:xfrm>
          <a:prstGeom prst="rect">
            <a:avLst/>
          </a:prstGeom>
        </p:spPr>
        <p:txBody>
          <a:bodyPr lIns="0" tIns="0" rIns="0" bIns="0" rtlCol="0" anchor="t">
            <a:spAutoFit/>
          </a:bodyPr>
          <a:lstStyle/>
          <a:p>
            <a:pPr marL="0" lvl="1" indent="0" algn="l">
              <a:lnSpc>
                <a:spcPts val="4576"/>
              </a:lnSpc>
            </a:pPr>
            <a:r>
              <a:rPr lang="en-US" sz="3979" spc="-183" dirty="0">
                <a:solidFill>
                  <a:srgbClr val="00694C"/>
                </a:solidFill>
                <a:latin typeface="Helvetica World"/>
                <a:ea typeface="Helvetica World"/>
                <a:cs typeface="Helvetica World"/>
                <a:sym typeface="Helvetica World"/>
              </a:rPr>
              <a:t>User Types: </a:t>
            </a:r>
          </a:p>
        </p:txBody>
      </p:sp>
      <p:sp>
        <p:nvSpPr>
          <p:cNvPr id="11" name="TextBox 11"/>
          <p:cNvSpPr txBox="1"/>
          <p:nvPr/>
        </p:nvSpPr>
        <p:spPr>
          <a:xfrm>
            <a:off x="2166372" y="5690563"/>
            <a:ext cx="15610659" cy="1177795"/>
          </a:xfrm>
          <a:prstGeom prst="rect">
            <a:avLst/>
          </a:prstGeom>
        </p:spPr>
        <p:txBody>
          <a:bodyPr lIns="0" tIns="0" rIns="0" bIns="0" rtlCol="0" anchor="t">
            <a:spAutoFit/>
          </a:bodyPr>
          <a:lstStyle/>
          <a:p>
            <a:pPr marL="859195" lvl="1" indent="-429598" algn="l">
              <a:lnSpc>
                <a:spcPts val="4576"/>
              </a:lnSpc>
              <a:buFont typeface="Arial"/>
              <a:buChar char="•"/>
            </a:pPr>
            <a:r>
              <a:rPr lang="en-US" sz="3979" spc="-183" dirty="0">
                <a:solidFill>
                  <a:srgbClr val="00694C"/>
                </a:solidFill>
                <a:latin typeface="Helvetica World"/>
                <a:ea typeface="Helvetica World"/>
                <a:cs typeface="Helvetica World"/>
                <a:sym typeface="Helvetica World"/>
              </a:rPr>
              <a:t>Membership Riders</a:t>
            </a:r>
          </a:p>
          <a:p>
            <a:pPr marL="859195" lvl="1" indent="-429598" algn="l">
              <a:lnSpc>
                <a:spcPts val="4576"/>
              </a:lnSpc>
              <a:buFont typeface="Arial"/>
              <a:buChar char="•"/>
            </a:pPr>
            <a:r>
              <a:rPr lang="en-US" sz="3979" spc="-183" dirty="0">
                <a:solidFill>
                  <a:srgbClr val="00694C"/>
                </a:solidFill>
                <a:latin typeface="Helvetica World"/>
                <a:ea typeface="Helvetica World"/>
                <a:cs typeface="Helvetica World"/>
                <a:sym typeface="Helvetica World"/>
              </a:rPr>
              <a:t>Casual Riders</a:t>
            </a:r>
          </a:p>
        </p:txBody>
      </p:sp>
      <p:sp>
        <p:nvSpPr>
          <p:cNvPr id="12" name="TextBox 12"/>
          <p:cNvSpPr txBox="1"/>
          <p:nvPr/>
        </p:nvSpPr>
        <p:spPr>
          <a:xfrm>
            <a:off x="1648641" y="7296984"/>
            <a:ext cx="15610659" cy="596770"/>
          </a:xfrm>
          <a:prstGeom prst="rect">
            <a:avLst/>
          </a:prstGeom>
        </p:spPr>
        <p:txBody>
          <a:bodyPr lIns="0" tIns="0" rIns="0" bIns="0" rtlCol="0" anchor="t">
            <a:spAutoFit/>
          </a:bodyPr>
          <a:lstStyle/>
          <a:p>
            <a:pPr marL="0" lvl="1" indent="0" algn="l">
              <a:lnSpc>
                <a:spcPts val="4576"/>
              </a:lnSpc>
            </a:pPr>
            <a:r>
              <a:rPr lang="en-US" sz="3979" spc="-183" dirty="0">
                <a:solidFill>
                  <a:srgbClr val="00694C"/>
                </a:solidFill>
                <a:latin typeface="Helvetica World"/>
                <a:ea typeface="Helvetica World"/>
                <a:cs typeface="Helvetica World"/>
                <a:sym typeface="Helvetica World"/>
              </a:rPr>
              <a:t>Rideable Types:</a:t>
            </a:r>
          </a:p>
        </p:txBody>
      </p:sp>
      <p:sp>
        <p:nvSpPr>
          <p:cNvPr id="13" name="TextBox 13"/>
          <p:cNvSpPr txBox="1"/>
          <p:nvPr/>
        </p:nvSpPr>
        <p:spPr>
          <a:xfrm>
            <a:off x="2166372" y="8137670"/>
            <a:ext cx="11190938" cy="1177795"/>
          </a:xfrm>
          <a:prstGeom prst="rect">
            <a:avLst/>
          </a:prstGeom>
        </p:spPr>
        <p:txBody>
          <a:bodyPr lIns="0" tIns="0" rIns="0" bIns="0" rtlCol="0" anchor="t">
            <a:spAutoFit/>
          </a:bodyPr>
          <a:lstStyle/>
          <a:p>
            <a:pPr marL="859195" lvl="1" indent="-429598" algn="l">
              <a:lnSpc>
                <a:spcPts val="4576"/>
              </a:lnSpc>
              <a:buFont typeface="Arial"/>
              <a:buChar char="•"/>
            </a:pPr>
            <a:r>
              <a:rPr lang="en-US" sz="3979" spc="-183">
                <a:solidFill>
                  <a:srgbClr val="00694C"/>
                </a:solidFill>
                <a:latin typeface="Helvetica World"/>
                <a:ea typeface="Helvetica World"/>
                <a:cs typeface="Helvetica World"/>
                <a:sym typeface="Helvetica World"/>
              </a:rPr>
              <a:t>Electronic bikes</a:t>
            </a:r>
          </a:p>
          <a:p>
            <a:pPr marL="859195" lvl="1" indent="-429598" algn="l">
              <a:lnSpc>
                <a:spcPts val="4576"/>
              </a:lnSpc>
              <a:buFont typeface="Arial"/>
              <a:buChar char="•"/>
            </a:pPr>
            <a:r>
              <a:rPr lang="en-US" sz="3979" spc="-183">
                <a:solidFill>
                  <a:srgbClr val="00694C"/>
                </a:solidFill>
                <a:latin typeface="Helvetica World"/>
                <a:ea typeface="Helvetica World"/>
                <a:cs typeface="Helvetica World"/>
                <a:sym typeface="Helvetica World"/>
              </a:rPr>
              <a:t>Classic bikes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83416" b="-83416"/>
            </a:stretch>
          </a:blipFill>
        </p:spPr>
      </p:sp>
      <p:sp>
        <p:nvSpPr>
          <p:cNvPr id="3" name="Freeform 3"/>
          <p:cNvSpPr/>
          <p:nvPr/>
        </p:nvSpPr>
        <p:spPr>
          <a:xfrm>
            <a:off x="2836896" y="-3680904"/>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alphaModFix amt="50000"/>
            </a:blip>
            <a:stretch>
              <a:fillRect/>
            </a:stretch>
          </a:blipFill>
        </p:spPr>
      </p:sp>
      <p:sp>
        <p:nvSpPr>
          <p:cNvPr id="4" name="Freeform 4"/>
          <p:cNvSpPr/>
          <p:nvPr/>
        </p:nvSpPr>
        <p:spPr>
          <a:xfrm>
            <a:off x="-5196416" y="6303202"/>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alphaModFix amt="80000"/>
            </a:blip>
            <a:stretch>
              <a:fillRect/>
            </a:stretch>
          </a:blipFill>
        </p:spPr>
      </p:sp>
      <p:sp>
        <p:nvSpPr>
          <p:cNvPr id="5" name="Freeform 5"/>
          <p:cNvSpPr/>
          <p:nvPr/>
        </p:nvSpPr>
        <p:spPr>
          <a:xfrm>
            <a:off x="-1081616" y="1028700"/>
            <a:ext cx="7039992" cy="7039992"/>
          </a:xfrm>
          <a:custGeom>
            <a:avLst/>
            <a:gdLst/>
            <a:ahLst/>
            <a:cxnLst/>
            <a:rect l="l" t="t" r="r" b="b"/>
            <a:pathLst>
              <a:path w="7039992" h="7039992">
                <a:moveTo>
                  <a:pt x="0" y="0"/>
                </a:moveTo>
                <a:lnTo>
                  <a:pt x="7039991" y="0"/>
                </a:lnTo>
                <a:lnTo>
                  <a:pt x="7039991" y="7039992"/>
                </a:lnTo>
                <a:lnTo>
                  <a:pt x="0" y="7039992"/>
                </a:lnTo>
                <a:lnTo>
                  <a:pt x="0" y="0"/>
                </a:lnTo>
                <a:close/>
              </a:path>
            </a:pathLst>
          </a:custGeom>
          <a:blipFill>
            <a:blip r:embed="rId4">
              <a:alphaModFix amt="9999"/>
              <a:extLst>
                <a:ext uri="{96DAC541-7B7A-43D3-8B79-37D633B846F1}">
                  <asvg:svgBlip xmlns:asvg="http://schemas.microsoft.com/office/drawing/2016/SVG/main" xmlns="" r:embed="rId5"/>
                </a:ext>
              </a:extLst>
            </a:blip>
            <a:stretch>
              <a:fillRect/>
            </a:stretch>
          </a:blipFill>
        </p:spPr>
      </p:sp>
      <p:sp>
        <p:nvSpPr>
          <p:cNvPr id="6" name="AutoShape 6"/>
          <p:cNvSpPr/>
          <p:nvPr/>
        </p:nvSpPr>
        <p:spPr>
          <a:xfrm>
            <a:off x="2166372" y="2124267"/>
            <a:ext cx="10315441" cy="0"/>
          </a:xfrm>
          <a:prstGeom prst="line">
            <a:avLst/>
          </a:prstGeom>
          <a:ln w="19050" cap="flat">
            <a:solidFill>
              <a:srgbClr val="00694C"/>
            </a:solidFill>
            <a:prstDash val="solid"/>
            <a:headEnd type="none" w="sm" len="sm"/>
            <a:tailEnd type="none" w="sm" len="sm"/>
          </a:ln>
        </p:spPr>
      </p:sp>
      <p:sp>
        <p:nvSpPr>
          <p:cNvPr id="7" name="Freeform 7"/>
          <p:cNvSpPr/>
          <p:nvPr/>
        </p:nvSpPr>
        <p:spPr>
          <a:xfrm>
            <a:off x="2166372" y="2334410"/>
            <a:ext cx="3792003" cy="2533995"/>
          </a:xfrm>
          <a:custGeom>
            <a:avLst/>
            <a:gdLst/>
            <a:ahLst/>
            <a:cxnLst/>
            <a:rect l="l" t="t" r="r" b="b"/>
            <a:pathLst>
              <a:path w="3792003" h="2533995">
                <a:moveTo>
                  <a:pt x="0" y="0"/>
                </a:moveTo>
                <a:lnTo>
                  <a:pt x="3792003" y="0"/>
                </a:lnTo>
                <a:lnTo>
                  <a:pt x="3792003" y="2533995"/>
                </a:lnTo>
                <a:lnTo>
                  <a:pt x="0" y="2533995"/>
                </a:lnTo>
                <a:lnTo>
                  <a:pt x="0" y="0"/>
                </a:lnTo>
                <a:close/>
              </a:path>
            </a:pathLst>
          </a:custGeom>
          <a:blipFill>
            <a:blip r:embed="rId6"/>
            <a:stretch>
              <a:fillRect l="-123680" t="-33325" r="-8376" b="-437595"/>
            </a:stretch>
          </a:blipFill>
        </p:spPr>
      </p:sp>
      <p:sp>
        <p:nvSpPr>
          <p:cNvPr id="8" name="Freeform 8"/>
          <p:cNvSpPr/>
          <p:nvPr/>
        </p:nvSpPr>
        <p:spPr>
          <a:xfrm>
            <a:off x="11066496" y="2334410"/>
            <a:ext cx="4500009" cy="7398321"/>
          </a:xfrm>
          <a:custGeom>
            <a:avLst/>
            <a:gdLst/>
            <a:ahLst/>
            <a:cxnLst/>
            <a:rect l="l" t="t" r="r" b="b"/>
            <a:pathLst>
              <a:path w="4500009" h="7398321">
                <a:moveTo>
                  <a:pt x="0" y="0"/>
                </a:moveTo>
                <a:lnTo>
                  <a:pt x="4500009" y="0"/>
                </a:lnTo>
                <a:lnTo>
                  <a:pt x="4500009" y="7398321"/>
                </a:lnTo>
                <a:lnTo>
                  <a:pt x="0" y="7398321"/>
                </a:lnTo>
                <a:lnTo>
                  <a:pt x="0" y="0"/>
                </a:lnTo>
                <a:close/>
              </a:path>
            </a:pathLst>
          </a:custGeom>
          <a:blipFill>
            <a:blip r:embed="rId6"/>
            <a:stretch>
              <a:fillRect/>
            </a:stretch>
          </a:blipFill>
        </p:spPr>
      </p:sp>
      <p:sp>
        <p:nvSpPr>
          <p:cNvPr id="9" name="TextBox 9"/>
          <p:cNvSpPr txBox="1"/>
          <p:nvPr/>
        </p:nvSpPr>
        <p:spPr>
          <a:xfrm>
            <a:off x="2166372" y="736725"/>
            <a:ext cx="10661248" cy="1387542"/>
          </a:xfrm>
          <a:prstGeom prst="rect">
            <a:avLst/>
          </a:prstGeom>
        </p:spPr>
        <p:txBody>
          <a:bodyPr lIns="0" tIns="0" rIns="0" bIns="0" rtlCol="0" anchor="t">
            <a:spAutoFit/>
          </a:bodyPr>
          <a:lstStyle/>
          <a:p>
            <a:pPr marL="0" lvl="1" indent="0" algn="l">
              <a:lnSpc>
                <a:spcPts val="10745"/>
              </a:lnSpc>
            </a:pPr>
            <a:r>
              <a:rPr lang="en-US" sz="9184" spc="-128">
                <a:solidFill>
                  <a:srgbClr val="00694C"/>
                </a:solidFill>
                <a:latin typeface="Helvetica World"/>
                <a:ea typeface="Helvetica World"/>
                <a:cs typeface="Helvetica World"/>
                <a:sym typeface="Helvetica World"/>
              </a:rPr>
              <a:t>Analysis Overview</a:t>
            </a:r>
          </a:p>
        </p:txBody>
      </p:sp>
      <p:sp>
        <p:nvSpPr>
          <p:cNvPr id="10" name="TextBox 10"/>
          <p:cNvSpPr txBox="1"/>
          <p:nvPr/>
        </p:nvSpPr>
        <p:spPr>
          <a:xfrm>
            <a:off x="1759119" y="6584823"/>
            <a:ext cx="8628116" cy="596770"/>
          </a:xfrm>
          <a:prstGeom prst="rect">
            <a:avLst/>
          </a:prstGeom>
        </p:spPr>
        <p:txBody>
          <a:bodyPr lIns="0" tIns="0" rIns="0" bIns="0" rtlCol="0" anchor="t">
            <a:spAutoFit/>
          </a:bodyPr>
          <a:lstStyle/>
          <a:p>
            <a:pPr marL="859195" lvl="1" indent="-429598" algn="l">
              <a:lnSpc>
                <a:spcPts val="4576"/>
              </a:lnSpc>
              <a:buFont typeface="Arial"/>
              <a:buChar char="•"/>
            </a:pPr>
            <a:r>
              <a:rPr lang="en-US" sz="3979" spc="-183" dirty="0">
                <a:solidFill>
                  <a:srgbClr val="00694C"/>
                </a:solidFill>
                <a:latin typeface="Helvetica World"/>
                <a:ea typeface="Helvetica World"/>
                <a:cs typeface="Helvetica World"/>
                <a:sym typeface="Helvetica World"/>
              </a:rPr>
              <a:t>Almost 50% more membership users</a:t>
            </a:r>
          </a:p>
        </p:txBody>
      </p:sp>
      <p:sp>
        <p:nvSpPr>
          <p:cNvPr id="11" name="TextBox 11"/>
          <p:cNvSpPr txBox="1"/>
          <p:nvPr/>
        </p:nvSpPr>
        <p:spPr>
          <a:xfrm>
            <a:off x="2166372" y="5917567"/>
            <a:ext cx="2888003" cy="657730"/>
          </a:xfrm>
          <a:prstGeom prst="rect">
            <a:avLst/>
          </a:prstGeom>
        </p:spPr>
        <p:txBody>
          <a:bodyPr lIns="0" tIns="0" rIns="0" bIns="0" rtlCol="0" anchor="t">
            <a:spAutoFit/>
          </a:bodyPr>
          <a:lstStyle/>
          <a:p>
            <a:pPr algn="l">
              <a:lnSpc>
                <a:spcPts val="4576"/>
              </a:lnSpc>
            </a:pPr>
            <a:r>
              <a:rPr lang="en-US" sz="3979" b="1" spc="-183" dirty="0">
                <a:solidFill>
                  <a:srgbClr val="00694C"/>
                </a:solidFill>
                <a:latin typeface="Helvetica World Bold"/>
                <a:ea typeface="Helvetica World Bold"/>
                <a:cs typeface="Helvetica World Bold"/>
                <a:sym typeface="Helvetica World Bold"/>
              </a:rPr>
              <a:t>Insights: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8617849" y="67352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alphaModFix amt="50000"/>
            </a:blip>
            <a:stretch>
              <a:fillRect/>
            </a:stretch>
          </a:blipFill>
        </p:spPr>
      </p:sp>
      <p:sp>
        <p:nvSpPr>
          <p:cNvPr id="4" name="Freeform 4"/>
          <p:cNvSpPr/>
          <p:nvPr/>
        </p:nvSpPr>
        <p:spPr>
          <a:xfrm>
            <a:off x="15040677" y="3425466"/>
            <a:ext cx="3613543" cy="4114800"/>
          </a:xfrm>
          <a:custGeom>
            <a:avLst/>
            <a:gdLst/>
            <a:ahLst/>
            <a:cxnLst/>
            <a:rect l="l" t="t" r="r" b="b"/>
            <a:pathLst>
              <a:path w="3613543" h="4114800">
                <a:moveTo>
                  <a:pt x="0" y="0"/>
                </a:moveTo>
                <a:lnTo>
                  <a:pt x="3613543" y="0"/>
                </a:lnTo>
                <a:lnTo>
                  <a:pt x="3613543" y="4114800"/>
                </a:lnTo>
                <a:lnTo>
                  <a:pt x="0" y="4114800"/>
                </a:lnTo>
                <a:lnTo>
                  <a:pt x="0" y="0"/>
                </a:lnTo>
                <a:close/>
              </a:path>
            </a:pathLst>
          </a:custGeom>
          <a:blipFill>
            <a:blip r:embed="rId4">
              <a:alphaModFix amt="9999"/>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4382394" y="616849"/>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alphaModFix amt="80000"/>
            </a:blip>
            <a:stretch>
              <a:fillRect/>
            </a:stretch>
          </a:blipFill>
        </p:spPr>
      </p:sp>
      <p:sp>
        <p:nvSpPr>
          <p:cNvPr id="6" name="Freeform 6"/>
          <p:cNvSpPr/>
          <p:nvPr/>
        </p:nvSpPr>
        <p:spPr>
          <a:xfrm>
            <a:off x="-2669630" y="1623504"/>
            <a:ext cx="5916762" cy="5916762"/>
          </a:xfrm>
          <a:custGeom>
            <a:avLst/>
            <a:gdLst/>
            <a:ahLst/>
            <a:cxnLst/>
            <a:rect l="l" t="t" r="r" b="b"/>
            <a:pathLst>
              <a:path w="5916762" h="5916762">
                <a:moveTo>
                  <a:pt x="0" y="0"/>
                </a:moveTo>
                <a:lnTo>
                  <a:pt x="5916761" y="0"/>
                </a:lnTo>
                <a:lnTo>
                  <a:pt x="5916761" y="5916762"/>
                </a:lnTo>
                <a:lnTo>
                  <a:pt x="0" y="5916762"/>
                </a:lnTo>
                <a:lnTo>
                  <a:pt x="0" y="0"/>
                </a:lnTo>
                <a:close/>
              </a:path>
            </a:pathLst>
          </a:custGeom>
          <a:blipFill>
            <a:blip r:embed="rId6">
              <a:alphaModFix amt="9999"/>
              <a:extLst>
                <a:ext uri="{96DAC541-7B7A-43D3-8B79-37D633B846F1}">
                  <asvg:svgBlip xmlns:asvg="http://schemas.microsoft.com/office/drawing/2016/SVG/main" xmlns="" r:embed="rId7"/>
                </a:ext>
              </a:extLst>
            </a:blip>
            <a:stretch>
              <a:fillRect/>
            </a:stretch>
          </a:blipFill>
        </p:spPr>
      </p:sp>
      <p:sp>
        <p:nvSpPr>
          <p:cNvPr id="7" name="AutoShape 7"/>
          <p:cNvSpPr/>
          <p:nvPr/>
        </p:nvSpPr>
        <p:spPr>
          <a:xfrm>
            <a:off x="3077445" y="1631560"/>
            <a:ext cx="7649298" cy="0"/>
          </a:xfrm>
          <a:prstGeom prst="line">
            <a:avLst/>
          </a:prstGeom>
          <a:ln w="19050" cap="flat">
            <a:solidFill>
              <a:srgbClr val="00694C"/>
            </a:solidFill>
            <a:prstDash val="solid"/>
            <a:headEnd type="none" w="sm" len="sm"/>
            <a:tailEnd type="none" w="sm" len="sm"/>
          </a:ln>
        </p:spPr>
      </p:sp>
      <p:sp>
        <p:nvSpPr>
          <p:cNvPr id="8" name="Freeform 8"/>
          <p:cNvSpPr/>
          <p:nvPr/>
        </p:nvSpPr>
        <p:spPr>
          <a:xfrm>
            <a:off x="11117659" y="1355923"/>
            <a:ext cx="5924598" cy="7490526"/>
          </a:xfrm>
          <a:custGeom>
            <a:avLst/>
            <a:gdLst/>
            <a:ahLst/>
            <a:cxnLst/>
            <a:rect l="l" t="t" r="r" b="b"/>
            <a:pathLst>
              <a:path w="5924598" h="7490526">
                <a:moveTo>
                  <a:pt x="0" y="0"/>
                </a:moveTo>
                <a:lnTo>
                  <a:pt x="5924598" y="0"/>
                </a:lnTo>
                <a:lnTo>
                  <a:pt x="5924598" y="7490526"/>
                </a:lnTo>
                <a:lnTo>
                  <a:pt x="0" y="7490526"/>
                </a:lnTo>
                <a:lnTo>
                  <a:pt x="0" y="0"/>
                </a:lnTo>
                <a:close/>
              </a:path>
            </a:pathLst>
          </a:custGeom>
          <a:blipFill>
            <a:blip r:embed="rId8"/>
            <a:stretch>
              <a:fillRect t="-6136"/>
            </a:stretch>
          </a:blipFill>
        </p:spPr>
      </p:sp>
      <p:sp>
        <p:nvSpPr>
          <p:cNvPr id="9" name="TextBox 9"/>
          <p:cNvSpPr txBox="1"/>
          <p:nvPr/>
        </p:nvSpPr>
        <p:spPr>
          <a:xfrm>
            <a:off x="2378468" y="416315"/>
            <a:ext cx="8739191" cy="1018494"/>
          </a:xfrm>
          <a:prstGeom prst="rect">
            <a:avLst/>
          </a:prstGeom>
        </p:spPr>
        <p:txBody>
          <a:bodyPr lIns="0" tIns="0" rIns="0" bIns="0" rtlCol="0" anchor="t">
            <a:spAutoFit/>
          </a:bodyPr>
          <a:lstStyle/>
          <a:p>
            <a:pPr marL="0" lvl="1" indent="0" algn="ctr">
              <a:lnSpc>
                <a:spcPts val="7833"/>
              </a:lnSpc>
            </a:pPr>
            <a:r>
              <a:rPr lang="en-US" sz="6695" spc="-93" dirty="0" smtClean="0">
                <a:solidFill>
                  <a:srgbClr val="00694C"/>
                </a:solidFill>
                <a:latin typeface="Helvetica World"/>
                <a:ea typeface="Helvetica World"/>
                <a:cs typeface="Helvetica World"/>
                <a:sym typeface="Helvetica World"/>
              </a:rPr>
              <a:t>Rideable </a:t>
            </a:r>
            <a:r>
              <a:rPr lang="en-US" sz="6695" spc="-93" dirty="0">
                <a:solidFill>
                  <a:srgbClr val="00694C"/>
                </a:solidFill>
                <a:latin typeface="Helvetica World"/>
                <a:ea typeface="Helvetica World"/>
                <a:cs typeface="Helvetica World"/>
                <a:sym typeface="Helvetica World"/>
              </a:rPr>
              <a:t>types usage</a:t>
            </a:r>
          </a:p>
        </p:txBody>
      </p:sp>
      <p:sp>
        <p:nvSpPr>
          <p:cNvPr id="10" name="TextBox 10"/>
          <p:cNvSpPr txBox="1"/>
          <p:nvPr/>
        </p:nvSpPr>
        <p:spPr>
          <a:xfrm>
            <a:off x="2244543" y="3553853"/>
            <a:ext cx="8628116" cy="1177795"/>
          </a:xfrm>
          <a:prstGeom prst="rect">
            <a:avLst/>
          </a:prstGeom>
        </p:spPr>
        <p:txBody>
          <a:bodyPr lIns="0" tIns="0" rIns="0" bIns="0" rtlCol="0" anchor="t">
            <a:spAutoFit/>
          </a:bodyPr>
          <a:lstStyle/>
          <a:p>
            <a:pPr marL="859195" lvl="1" indent="-429598" algn="l">
              <a:lnSpc>
                <a:spcPts val="4576"/>
              </a:lnSpc>
              <a:buFont typeface="Arial"/>
              <a:buChar char="•"/>
            </a:pPr>
            <a:r>
              <a:rPr lang="en-US" sz="3979" spc="-183">
                <a:solidFill>
                  <a:srgbClr val="00694C"/>
                </a:solidFill>
                <a:latin typeface="Helvetica World"/>
                <a:ea typeface="Helvetica World"/>
                <a:cs typeface="Helvetica World"/>
                <a:sym typeface="Helvetica World"/>
              </a:rPr>
              <a:t>Electric bike usage in more for both members and casual riders</a:t>
            </a:r>
          </a:p>
        </p:txBody>
      </p:sp>
      <p:sp>
        <p:nvSpPr>
          <p:cNvPr id="11" name="AutoShape 11"/>
          <p:cNvSpPr/>
          <p:nvPr/>
        </p:nvSpPr>
        <p:spPr>
          <a:xfrm flipH="1" flipV="1">
            <a:off x="14550790" y="5090936"/>
            <a:ext cx="789070" cy="554256"/>
          </a:xfrm>
          <a:prstGeom prst="line">
            <a:avLst/>
          </a:prstGeom>
          <a:ln w="38100" cap="flat">
            <a:solidFill>
              <a:srgbClr val="00694C"/>
            </a:solidFill>
            <a:prstDash val="solid"/>
            <a:headEnd type="none" w="sm" len="sm"/>
            <a:tailEnd type="triangle" w="lg" len="med"/>
          </a:ln>
        </p:spPr>
      </p:sp>
      <p:sp>
        <p:nvSpPr>
          <p:cNvPr id="12" name="AutoShape 12"/>
          <p:cNvSpPr/>
          <p:nvPr/>
        </p:nvSpPr>
        <p:spPr>
          <a:xfrm flipH="1">
            <a:off x="14541953" y="6436705"/>
            <a:ext cx="797906" cy="769192"/>
          </a:xfrm>
          <a:prstGeom prst="line">
            <a:avLst/>
          </a:prstGeom>
          <a:ln w="38100" cap="flat">
            <a:solidFill>
              <a:srgbClr val="00694C"/>
            </a:solidFill>
            <a:prstDash val="solid"/>
            <a:headEnd type="none" w="sm" len="sm"/>
            <a:tailEnd type="triangle" w="lg" len="med"/>
          </a:ln>
        </p:spPr>
      </p:sp>
      <p:sp>
        <p:nvSpPr>
          <p:cNvPr id="13" name="TextBox 13"/>
          <p:cNvSpPr txBox="1"/>
          <p:nvPr/>
        </p:nvSpPr>
        <p:spPr>
          <a:xfrm>
            <a:off x="14945644" y="5842400"/>
            <a:ext cx="1835825" cy="388922"/>
          </a:xfrm>
          <a:prstGeom prst="rect">
            <a:avLst/>
          </a:prstGeom>
        </p:spPr>
        <p:txBody>
          <a:bodyPr lIns="0" tIns="0" rIns="0" bIns="0" rtlCol="0" anchor="t">
            <a:spAutoFit/>
          </a:bodyPr>
          <a:lstStyle/>
          <a:p>
            <a:pPr algn="ctr">
              <a:lnSpc>
                <a:spcPts val="2814"/>
              </a:lnSpc>
              <a:spcBef>
                <a:spcPct val="0"/>
              </a:spcBef>
            </a:pPr>
            <a:r>
              <a:rPr lang="en-US" sz="2447" b="1" spc="-112">
                <a:solidFill>
                  <a:srgbClr val="00694C"/>
                </a:solidFill>
                <a:latin typeface="Helvetica World Bold"/>
                <a:ea typeface="Helvetica World Bold"/>
                <a:cs typeface="Helvetica World Bold"/>
                <a:sym typeface="Helvetica World Bold"/>
              </a:rPr>
              <a:t>Electric Bikes</a:t>
            </a:r>
          </a:p>
        </p:txBody>
      </p:sp>
      <p:sp>
        <p:nvSpPr>
          <p:cNvPr id="14" name="TextBox 14"/>
          <p:cNvSpPr txBox="1"/>
          <p:nvPr/>
        </p:nvSpPr>
        <p:spPr>
          <a:xfrm>
            <a:off x="2721249" y="2886598"/>
            <a:ext cx="2888003" cy="657730"/>
          </a:xfrm>
          <a:prstGeom prst="rect">
            <a:avLst/>
          </a:prstGeom>
        </p:spPr>
        <p:txBody>
          <a:bodyPr lIns="0" tIns="0" rIns="0" bIns="0" rtlCol="0" anchor="t">
            <a:spAutoFit/>
          </a:bodyPr>
          <a:lstStyle/>
          <a:p>
            <a:pPr algn="l">
              <a:lnSpc>
                <a:spcPts val="4576"/>
              </a:lnSpc>
            </a:pPr>
            <a:r>
              <a:rPr lang="en-US" sz="3979" b="1" spc="-183" dirty="0">
                <a:solidFill>
                  <a:srgbClr val="00694C"/>
                </a:solidFill>
                <a:latin typeface="Helvetica World Bold"/>
                <a:ea typeface="Helvetica World Bold"/>
                <a:cs typeface="Helvetica World Bold"/>
                <a:sym typeface="Helvetica World Bold"/>
              </a:rPr>
              <a:t>Insights: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5509816" y="938312"/>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alphaModFix amt="80000"/>
            </a:blip>
            <a:stretch>
              <a:fillRect/>
            </a:stretch>
          </a:blipFill>
        </p:spPr>
      </p:sp>
      <p:sp>
        <p:nvSpPr>
          <p:cNvPr id="4" name="Freeform 4"/>
          <p:cNvSpPr/>
          <p:nvPr/>
        </p:nvSpPr>
        <p:spPr>
          <a:xfrm>
            <a:off x="-2210421" y="6866141"/>
            <a:ext cx="5916762" cy="5916762"/>
          </a:xfrm>
          <a:custGeom>
            <a:avLst/>
            <a:gdLst/>
            <a:ahLst/>
            <a:cxnLst/>
            <a:rect l="l" t="t" r="r" b="b"/>
            <a:pathLst>
              <a:path w="5916762" h="5916762">
                <a:moveTo>
                  <a:pt x="0" y="0"/>
                </a:moveTo>
                <a:lnTo>
                  <a:pt x="5916761" y="0"/>
                </a:lnTo>
                <a:lnTo>
                  <a:pt x="5916761" y="5916761"/>
                </a:lnTo>
                <a:lnTo>
                  <a:pt x="0" y="5916761"/>
                </a:lnTo>
                <a:lnTo>
                  <a:pt x="0" y="0"/>
                </a:lnTo>
                <a:close/>
              </a:path>
            </a:pathLst>
          </a:custGeom>
          <a:blipFill>
            <a:blip r:embed="rId4">
              <a:alphaModFix amt="9999"/>
              <a:extLst>
                <a:ext uri="{96DAC541-7B7A-43D3-8B79-37D633B846F1}">
                  <asvg:svgBlip xmlns:asvg="http://schemas.microsoft.com/office/drawing/2016/SVG/main" xmlns="" r:embed="rId5"/>
                </a:ext>
              </a:extLst>
            </a:blip>
            <a:stretch>
              <a:fillRect/>
            </a:stretch>
          </a:blipFill>
        </p:spPr>
      </p:sp>
      <p:sp>
        <p:nvSpPr>
          <p:cNvPr id="5" name="AutoShape 5"/>
          <p:cNvSpPr/>
          <p:nvPr/>
        </p:nvSpPr>
        <p:spPr>
          <a:xfrm>
            <a:off x="1588356" y="1787607"/>
            <a:ext cx="7649298" cy="0"/>
          </a:xfrm>
          <a:prstGeom prst="line">
            <a:avLst/>
          </a:prstGeom>
          <a:ln w="19050" cap="flat">
            <a:solidFill>
              <a:srgbClr val="00694C"/>
            </a:solidFill>
            <a:prstDash val="solid"/>
            <a:headEnd type="none" w="sm" len="sm"/>
            <a:tailEnd type="none" w="sm" len="sm"/>
          </a:ln>
        </p:spPr>
      </p:sp>
      <p:sp>
        <p:nvSpPr>
          <p:cNvPr id="6" name="Freeform 6"/>
          <p:cNvSpPr/>
          <p:nvPr/>
        </p:nvSpPr>
        <p:spPr>
          <a:xfrm>
            <a:off x="7924640" y="1950202"/>
            <a:ext cx="9803779" cy="6205819"/>
          </a:xfrm>
          <a:custGeom>
            <a:avLst/>
            <a:gdLst/>
            <a:ahLst/>
            <a:cxnLst/>
            <a:rect l="l" t="t" r="r" b="b"/>
            <a:pathLst>
              <a:path w="9803779" h="6205819">
                <a:moveTo>
                  <a:pt x="0" y="0"/>
                </a:moveTo>
                <a:lnTo>
                  <a:pt x="9803778" y="0"/>
                </a:lnTo>
                <a:lnTo>
                  <a:pt x="9803778" y="6205819"/>
                </a:lnTo>
                <a:lnTo>
                  <a:pt x="0" y="6205819"/>
                </a:lnTo>
                <a:lnTo>
                  <a:pt x="0" y="0"/>
                </a:lnTo>
                <a:close/>
              </a:path>
            </a:pathLst>
          </a:custGeom>
          <a:blipFill>
            <a:blip r:embed="rId6"/>
            <a:stretch>
              <a:fillRect t="-7461" b="-358"/>
            </a:stretch>
          </a:blipFill>
        </p:spPr>
      </p:sp>
      <p:sp>
        <p:nvSpPr>
          <p:cNvPr id="7" name="TextBox 7"/>
          <p:cNvSpPr txBox="1"/>
          <p:nvPr/>
        </p:nvSpPr>
        <p:spPr>
          <a:xfrm>
            <a:off x="889379" y="572363"/>
            <a:ext cx="8739191" cy="1018494"/>
          </a:xfrm>
          <a:prstGeom prst="rect">
            <a:avLst/>
          </a:prstGeom>
        </p:spPr>
        <p:txBody>
          <a:bodyPr lIns="0" tIns="0" rIns="0" bIns="0" rtlCol="0" anchor="t">
            <a:spAutoFit/>
          </a:bodyPr>
          <a:lstStyle/>
          <a:p>
            <a:pPr marL="0" lvl="1" indent="0" algn="ctr">
              <a:lnSpc>
                <a:spcPts val="7833"/>
              </a:lnSpc>
            </a:pPr>
            <a:r>
              <a:rPr lang="en-US" sz="6695" spc="-93">
                <a:solidFill>
                  <a:srgbClr val="00694C"/>
                </a:solidFill>
                <a:latin typeface="Helvetica World"/>
                <a:ea typeface="Helvetica World"/>
                <a:cs typeface="Helvetica World"/>
                <a:sym typeface="Helvetica World"/>
              </a:rPr>
              <a:t>Month wise analysis</a:t>
            </a:r>
          </a:p>
        </p:txBody>
      </p:sp>
      <p:sp>
        <p:nvSpPr>
          <p:cNvPr id="8" name="TextBox 8"/>
          <p:cNvSpPr txBox="1"/>
          <p:nvPr/>
        </p:nvSpPr>
        <p:spPr>
          <a:xfrm>
            <a:off x="1028700" y="3563144"/>
            <a:ext cx="6537581" cy="1177795"/>
          </a:xfrm>
          <a:prstGeom prst="rect">
            <a:avLst/>
          </a:prstGeom>
        </p:spPr>
        <p:txBody>
          <a:bodyPr lIns="0" tIns="0" rIns="0" bIns="0" rtlCol="0" anchor="t">
            <a:spAutoFit/>
          </a:bodyPr>
          <a:lstStyle/>
          <a:p>
            <a:pPr marL="859195" lvl="1" indent="-429598" algn="l">
              <a:lnSpc>
                <a:spcPts val="4576"/>
              </a:lnSpc>
              <a:buFont typeface="Arial"/>
              <a:buChar char="•"/>
            </a:pPr>
            <a:r>
              <a:rPr lang="en-US" sz="3979" spc="-183">
                <a:solidFill>
                  <a:srgbClr val="00694C"/>
                </a:solidFill>
                <a:latin typeface="Helvetica World"/>
                <a:ea typeface="Helvetica World"/>
                <a:cs typeface="Helvetica World"/>
                <a:sym typeface="Helvetica World"/>
              </a:rPr>
              <a:t>Rides peak around warmer months</a:t>
            </a:r>
          </a:p>
        </p:txBody>
      </p:sp>
      <p:sp>
        <p:nvSpPr>
          <p:cNvPr id="9" name="TextBox 9"/>
          <p:cNvSpPr txBox="1"/>
          <p:nvPr/>
        </p:nvSpPr>
        <p:spPr>
          <a:xfrm>
            <a:off x="1028700" y="4940964"/>
            <a:ext cx="6537581" cy="1177795"/>
          </a:xfrm>
          <a:prstGeom prst="rect">
            <a:avLst/>
          </a:prstGeom>
        </p:spPr>
        <p:txBody>
          <a:bodyPr lIns="0" tIns="0" rIns="0" bIns="0" rtlCol="0" anchor="t">
            <a:spAutoFit/>
          </a:bodyPr>
          <a:lstStyle/>
          <a:p>
            <a:pPr marL="859195" lvl="1" indent="-429598" algn="l">
              <a:lnSpc>
                <a:spcPts val="4576"/>
              </a:lnSpc>
              <a:buFont typeface="Arial"/>
              <a:buChar char="•"/>
            </a:pPr>
            <a:r>
              <a:rPr lang="en-US" sz="3979" spc="-183" dirty="0">
                <a:solidFill>
                  <a:srgbClr val="00694C"/>
                </a:solidFill>
                <a:latin typeface="Helvetica World"/>
                <a:ea typeface="Helvetica World"/>
                <a:cs typeface="Helvetica World"/>
                <a:sym typeface="Helvetica World"/>
              </a:rPr>
              <a:t>Most usage is seen in </a:t>
            </a:r>
            <a:r>
              <a:rPr lang="en-US" sz="3979" spc="-183" dirty="0" err="1">
                <a:solidFill>
                  <a:srgbClr val="00694C"/>
                </a:solidFill>
                <a:latin typeface="Helvetica World"/>
                <a:ea typeface="Helvetica World"/>
                <a:cs typeface="Helvetica World"/>
                <a:sym typeface="Helvetica World"/>
              </a:rPr>
              <a:t>october</a:t>
            </a:r>
            <a:endParaRPr lang="en-US" sz="3979" spc="-183" dirty="0">
              <a:solidFill>
                <a:srgbClr val="00694C"/>
              </a:solidFill>
              <a:latin typeface="Helvetica World"/>
              <a:ea typeface="Helvetica World"/>
              <a:cs typeface="Helvetica World"/>
              <a:sym typeface="Helvetica World"/>
            </a:endParaRPr>
          </a:p>
        </p:txBody>
      </p:sp>
      <p:sp>
        <p:nvSpPr>
          <p:cNvPr id="10" name="TextBox 10"/>
          <p:cNvSpPr txBox="1"/>
          <p:nvPr/>
        </p:nvSpPr>
        <p:spPr>
          <a:xfrm>
            <a:off x="1066800" y="6504522"/>
            <a:ext cx="6537581" cy="596770"/>
          </a:xfrm>
          <a:prstGeom prst="rect">
            <a:avLst/>
          </a:prstGeom>
        </p:spPr>
        <p:txBody>
          <a:bodyPr lIns="0" tIns="0" rIns="0" bIns="0" rtlCol="0" anchor="t">
            <a:spAutoFit/>
          </a:bodyPr>
          <a:lstStyle/>
          <a:p>
            <a:pPr marL="859195" lvl="1" indent="-429598" algn="l">
              <a:lnSpc>
                <a:spcPts val="4576"/>
              </a:lnSpc>
              <a:buFont typeface="Arial"/>
              <a:buChar char="•"/>
            </a:pPr>
            <a:r>
              <a:rPr lang="en-US" sz="3979" spc="-183" dirty="0">
                <a:solidFill>
                  <a:srgbClr val="00694C"/>
                </a:solidFill>
                <a:latin typeface="Helvetica World"/>
                <a:ea typeface="Helvetica World"/>
                <a:cs typeface="Helvetica World"/>
                <a:sym typeface="Helvetica World"/>
              </a:rPr>
              <a:t>Best time to advertise</a:t>
            </a:r>
          </a:p>
        </p:txBody>
      </p:sp>
      <p:sp>
        <p:nvSpPr>
          <p:cNvPr id="11" name="TextBox 11"/>
          <p:cNvSpPr txBox="1"/>
          <p:nvPr/>
        </p:nvSpPr>
        <p:spPr>
          <a:xfrm>
            <a:off x="1588356" y="2514888"/>
            <a:ext cx="2888003" cy="657730"/>
          </a:xfrm>
          <a:prstGeom prst="rect">
            <a:avLst/>
          </a:prstGeom>
        </p:spPr>
        <p:txBody>
          <a:bodyPr lIns="0" tIns="0" rIns="0" bIns="0" rtlCol="0" anchor="t">
            <a:spAutoFit/>
          </a:bodyPr>
          <a:lstStyle/>
          <a:p>
            <a:pPr algn="l">
              <a:lnSpc>
                <a:spcPts val="4576"/>
              </a:lnSpc>
            </a:pPr>
            <a:r>
              <a:rPr lang="en-US" sz="3979" b="1" spc="-183" dirty="0">
                <a:solidFill>
                  <a:srgbClr val="00694C"/>
                </a:solidFill>
                <a:latin typeface="Helvetica World Bold"/>
                <a:ea typeface="Helvetica World Bold"/>
                <a:cs typeface="Helvetica World Bold"/>
                <a:sym typeface="Helvetica World Bold"/>
              </a:rPr>
              <a:t>Insights: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5203677" y="616849"/>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alphaModFix amt="80000"/>
            </a:blip>
            <a:stretch>
              <a:fillRect/>
            </a:stretch>
          </a:blipFill>
        </p:spPr>
      </p:sp>
      <p:sp>
        <p:nvSpPr>
          <p:cNvPr id="4" name="Freeform 4"/>
          <p:cNvSpPr/>
          <p:nvPr/>
        </p:nvSpPr>
        <p:spPr>
          <a:xfrm>
            <a:off x="-4047257" y="1631560"/>
            <a:ext cx="5916762" cy="5916762"/>
          </a:xfrm>
          <a:custGeom>
            <a:avLst/>
            <a:gdLst/>
            <a:ahLst/>
            <a:cxnLst/>
            <a:rect l="l" t="t" r="r" b="b"/>
            <a:pathLst>
              <a:path w="5916762" h="5916762">
                <a:moveTo>
                  <a:pt x="0" y="0"/>
                </a:moveTo>
                <a:lnTo>
                  <a:pt x="5916761" y="0"/>
                </a:lnTo>
                <a:lnTo>
                  <a:pt x="5916761" y="5916761"/>
                </a:lnTo>
                <a:lnTo>
                  <a:pt x="0" y="5916761"/>
                </a:lnTo>
                <a:lnTo>
                  <a:pt x="0" y="0"/>
                </a:lnTo>
                <a:close/>
              </a:path>
            </a:pathLst>
          </a:custGeom>
          <a:blipFill>
            <a:blip r:embed="rId4">
              <a:alphaModFix amt="9999"/>
              <a:extLst>
                <a:ext uri="{96DAC541-7B7A-43D3-8B79-37D633B846F1}">
                  <asvg:svgBlip xmlns:asvg="http://schemas.microsoft.com/office/drawing/2016/SVG/main" xmlns="" r:embed="rId5"/>
                </a:ext>
              </a:extLst>
            </a:blip>
            <a:stretch>
              <a:fillRect/>
            </a:stretch>
          </a:blipFill>
        </p:spPr>
      </p:sp>
      <p:sp>
        <p:nvSpPr>
          <p:cNvPr id="5" name="AutoShape 5"/>
          <p:cNvSpPr/>
          <p:nvPr/>
        </p:nvSpPr>
        <p:spPr>
          <a:xfrm>
            <a:off x="2282070" y="1641085"/>
            <a:ext cx="7649298" cy="0"/>
          </a:xfrm>
          <a:prstGeom prst="line">
            <a:avLst/>
          </a:prstGeom>
          <a:ln w="19050" cap="flat">
            <a:solidFill>
              <a:srgbClr val="00694C"/>
            </a:solidFill>
            <a:prstDash val="solid"/>
            <a:headEnd type="none" w="sm" len="sm"/>
            <a:tailEnd type="none" w="sm" len="sm"/>
          </a:ln>
        </p:spPr>
      </p:sp>
      <p:sp>
        <p:nvSpPr>
          <p:cNvPr id="6" name="Freeform 6"/>
          <p:cNvSpPr/>
          <p:nvPr/>
        </p:nvSpPr>
        <p:spPr>
          <a:xfrm>
            <a:off x="7928513" y="1831585"/>
            <a:ext cx="10109957" cy="6999788"/>
          </a:xfrm>
          <a:custGeom>
            <a:avLst/>
            <a:gdLst/>
            <a:ahLst/>
            <a:cxnLst/>
            <a:rect l="l" t="t" r="r" b="b"/>
            <a:pathLst>
              <a:path w="10109957" h="6999788">
                <a:moveTo>
                  <a:pt x="0" y="0"/>
                </a:moveTo>
                <a:lnTo>
                  <a:pt x="10109957" y="0"/>
                </a:lnTo>
                <a:lnTo>
                  <a:pt x="10109957" y="6999787"/>
                </a:lnTo>
                <a:lnTo>
                  <a:pt x="0" y="6999787"/>
                </a:lnTo>
                <a:lnTo>
                  <a:pt x="0" y="0"/>
                </a:lnTo>
                <a:close/>
              </a:path>
            </a:pathLst>
          </a:custGeom>
          <a:blipFill>
            <a:blip r:embed="rId6"/>
            <a:stretch>
              <a:fillRect t="-7963"/>
            </a:stretch>
          </a:blipFill>
        </p:spPr>
      </p:sp>
      <p:sp>
        <p:nvSpPr>
          <p:cNvPr id="7" name="TextBox 7"/>
          <p:cNvSpPr txBox="1"/>
          <p:nvPr/>
        </p:nvSpPr>
        <p:spPr>
          <a:xfrm>
            <a:off x="1192178" y="519453"/>
            <a:ext cx="8739191" cy="1018494"/>
          </a:xfrm>
          <a:prstGeom prst="rect">
            <a:avLst/>
          </a:prstGeom>
        </p:spPr>
        <p:txBody>
          <a:bodyPr lIns="0" tIns="0" rIns="0" bIns="0" rtlCol="0" anchor="t">
            <a:spAutoFit/>
          </a:bodyPr>
          <a:lstStyle/>
          <a:p>
            <a:pPr marL="0" lvl="1" indent="0" algn="ctr">
              <a:lnSpc>
                <a:spcPts val="7833"/>
              </a:lnSpc>
            </a:pPr>
            <a:r>
              <a:rPr lang="en-US" sz="6695" spc="-93">
                <a:solidFill>
                  <a:srgbClr val="00694C"/>
                </a:solidFill>
                <a:latin typeface="Helvetica World"/>
                <a:ea typeface="Helvetica World"/>
                <a:cs typeface="Helvetica World"/>
                <a:sym typeface="Helvetica World"/>
              </a:rPr>
              <a:t>Day wise Analysis</a:t>
            </a:r>
          </a:p>
        </p:txBody>
      </p:sp>
      <p:sp>
        <p:nvSpPr>
          <p:cNvPr id="8" name="TextBox 8"/>
          <p:cNvSpPr txBox="1"/>
          <p:nvPr/>
        </p:nvSpPr>
        <p:spPr>
          <a:xfrm>
            <a:off x="1390931" y="4058433"/>
            <a:ext cx="6537581" cy="1177795"/>
          </a:xfrm>
          <a:prstGeom prst="rect">
            <a:avLst/>
          </a:prstGeom>
        </p:spPr>
        <p:txBody>
          <a:bodyPr lIns="0" tIns="0" rIns="0" bIns="0" rtlCol="0" anchor="t">
            <a:spAutoFit/>
          </a:bodyPr>
          <a:lstStyle/>
          <a:p>
            <a:pPr marL="859195" lvl="1" indent="-429598" algn="l">
              <a:lnSpc>
                <a:spcPts val="4576"/>
              </a:lnSpc>
              <a:buFont typeface="Arial"/>
              <a:buChar char="•"/>
            </a:pPr>
            <a:r>
              <a:rPr lang="en-US" sz="3979" spc="-183">
                <a:solidFill>
                  <a:srgbClr val="00694C"/>
                </a:solidFill>
                <a:latin typeface="Helvetica World"/>
                <a:ea typeface="Helvetica World"/>
                <a:cs typeface="Helvetica World"/>
                <a:sym typeface="Helvetica World"/>
              </a:rPr>
              <a:t>Members are more active during work days</a:t>
            </a:r>
          </a:p>
        </p:txBody>
      </p:sp>
      <p:sp>
        <p:nvSpPr>
          <p:cNvPr id="9" name="TextBox 9"/>
          <p:cNvSpPr txBox="1"/>
          <p:nvPr/>
        </p:nvSpPr>
        <p:spPr>
          <a:xfrm>
            <a:off x="1390931" y="5436254"/>
            <a:ext cx="6537581" cy="1177795"/>
          </a:xfrm>
          <a:prstGeom prst="rect">
            <a:avLst/>
          </a:prstGeom>
        </p:spPr>
        <p:txBody>
          <a:bodyPr lIns="0" tIns="0" rIns="0" bIns="0" rtlCol="0" anchor="t">
            <a:spAutoFit/>
          </a:bodyPr>
          <a:lstStyle/>
          <a:p>
            <a:pPr marL="859195" lvl="1" indent="-429598" algn="l">
              <a:lnSpc>
                <a:spcPts val="4576"/>
              </a:lnSpc>
              <a:buFont typeface="Arial"/>
              <a:buChar char="•"/>
            </a:pPr>
            <a:r>
              <a:rPr lang="en-US" sz="3979" spc="-183" dirty="0">
                <a:solidFill>
                  <a:srgbClr val="00694C"/>
                </a:solidFill>
                <a:latin typeface="Helvetica World"/>
                <a:ea typeface="Helvetica World"/>
                <a:cs typeface="Helvetica World"/>
                <a:sym typeface="Helvetica World"/>
              </a:rPr>
              <a:t>Casuals are more active during weekend</a:t>
            </a:r>
          </a:p>
        </p:txBody>
      </p:sp>
      <p:sp>
        <p:nvSpPr>
          <p:cNvPr id="10" name="TextBox 10"/>
          <p:cNvSpPr txBox="1"/>
          <p:nvPr/>
        </p:nvSpPr>
        <p:spPr>
          <a:xfrm>
            <a:off x="1869504" y="3200678"/>
            <a:ext cx="2888003" cy="657730"/>
          </a:xfrm>
          <a:prstGeom prst="rect">
            <a:avLst/>
          </a:prstGeom>
        </p:spPr>
        <p:txBody>
          <a:bodyPr lIns="0" tIns="0" rIns="0" bIns="0" rtlCol="0" anchor="t">
            <a:spAutoFit/>
          </a:bodyPr>
          <a:lstStyle/>
          <a:p>
            <a:pPr algn="l">
              <a:lnSpc>
                <a:spcPts val="4576"/>
              </a:lnSpc>
            </a:pPr>
            <a:r>
              <a:rPr lang="en-US" sz="3979" b="1" spc="-183" dirty="0">
                <a:solidFill>
                  <a:srgbClr val="00694C"/>
                </a:solidFill>
                <a:latin typeface="Helvetica World Bold"/>
                <a:ea typeface="Helvetica World Bold"/>
                <a:cs typeface="Helvetica World Bold"/>
                <a:sym typeface="Helvetica World Bold"/>
              </a:rPr>
              <a:t>Insights: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9727604" y="5645191"/>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alphaModFix amt="50000"/>
            </a:blip>
            <a:stretch>
              <a:fillRect/>
            </a:stretch>
          </a:blipFill>
        </p:spPr>
      </p:sp>
      <p:sp>
        <p:nvSpPr>
          <p:cNvPr id="4" name="Freeform 4"/>
          <p:cNvSpPr/>
          <p:nvPr/>
        </p:nvSpPr>
        <p:spPr>
          <a:xfrm>
            <a:off x="16435597" y="8434597"/>
            <a:ext cx="823703" cy="823703"/>
          </a:xfrm>
          <a:custGeom>
            <a:avLst/>
            <a:gdLst/>
            <a:ahLst/>
            <a:cxnLst/>
            <a:rect l="l" t="t" r="r" b="b"/>
            <a:pathLst>
              <a:path w="823703" h="823703">
                <a:moveTo>
                  <a:pt x="0" y="0"/>
                </a:moveTo>
                <a:lnTo>
                  <a:pt x="823703" y="0"/>
                </a:lnTo>
                <a:lnTo>
                  <a:pt x="823703" y="823703"/>
                </a:lnTo>
                <a:lnTo>
                  <a:pt x="0" y="82370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4382394" y="616849"/>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alphaModFix amt="80000"/>
            </a:blip>
            <a:stretch>
              <a:fillRect/>
            </a:stretch>
          </a:blipFill>
        </p:spPr>
      </p:sp>
      <p:sp>
        <p:nvSpPr>
          <p:cNvPr id="6" name="Freeform 6"/>
          <p:cNvSpPr/>
          <p:nvPr/>
        </p:nvSpPr>
        <p:spPr>
          <a:xfrm>
            <a:off x="-2669630" y="1623504"/>
            <a:ext cx="5916762" cy="5916762"/>
          </a:xfrm>
          <a:custGeom>
            <a:avLst/>
            <a:gdLst/>
            <a:ahLst/>
            <a:cxnLst/>
            <a:rect l="l" t="t" r="r" b="b"/>
            <a:pathLst>
              <a:path w="5916762" h="5916762">
                <a:moveTo>
                  <a:pt x="0" y="0"/>
                </a:moveTo>
                <a:lnTo>
                  <a:pt x="5916761" y="0"/>
                </a:lnTo>
                <a:lnTo>
                  <a:pt x="5916761" y="5916762"/>
                </a:lnTo>
                <a:lnTo>
                  <a:pt x="0" y="5916762"/>
                </a:lnTo>
                <a:lnTo>
                  <a:pt x="0" y="0"/>
                </a:lnTo>
                <a:close/>
              </a:path>
            </a:pathLst>
          </a:custGeom>
          <a:blipFill>
            <a:blip r:embed="rId6">
              <a:alphaModFix amt="9999"/>
              <a:extLst>
                <a:ext uri="{96DAC541-7B7A-43D3-8B79-37D633B846F1}">
                  <asvg:svgBlip xmlns:asvg="http://schemas.microsoft.com/office/drawing/2016/SVG/main" xmlns="" r:embed="rId7"/>
                </a:ext>
              </a:extLst>
            </a:blip>
            <a:stretch>
              <a:fillRect/>
            </a:stretch>
          </a:blipFill>
        </p:spPr>
      </p:sp>
      <p:sp>
        <p:nvSpPr>
          <p:cNvPr id="7" name="AutoShape 7"/>
          <p:cNvSpPr/>
          <p:nvPr/>
        </p:nvSpPr>
        <p:spPr>
          <a:xfrm flipV="1">
            <a:off x="2120223" y="1633029"/>
            <a:ext cx="13770004" cy="8056"/>
          </a:xfrm>
          <a:prstGeom prst="line">
            <a:avLst/>
          </a:prstGeom>
          <a:ln w="19050" cap="flat">
            <a:solidFill>
              <a:srgbClr val="00694C"/>
            </a:solidFill>
            <a:prstDash val="solid"/>
            <a:headEnd type="none" w="sm" len="sm"/>
            <a:tailEnd type="none" w="sm" len="sm"/>
          </a:ln>
        </p:spPr>
      </p:sp>
      <p:sp>
        <p:nvSpPr>
          <p:cNvPr id="8" name="Freeform 8"/>
          <p:cNvSpPr/>
          <p:nvPr/>
        </p:nvSpPr>
        <p:spPr>
          <a:xfrm>
            <a:off x="1853485" y="1872208"/>
            <a:ext cx="14993964" cy="6850348"/>
          </a:xfrm>
          <a:custGeom>
            <a:avLst/>
            <a:gdLst/>
            <a:ahLst/>
            <a:cxnLst/>
            <a:rect l="l" t="t" r="r" b="b"/>
            <a:pathLst>
              <a:path w="14993964" h="6850348">
                <a:moveTo>
                  <a:pt x="0" y="0"/>
                </a:moveTo>
                <a:lnTo>
                  <a:pt x="14993964" y="0"/>
                </a:lnTo>
                <a:lnTo>
                  <a:pt x="14993964" y="6850348"/>
                </a:lnTo>
                <a:lnTo>
                  <a:pt x="0" y="6850348"/>
                </a:lnTo>
                <a:lnTo>
                  <a:pt x="0" y="0"/>
                </a:lnTo>
                <a:close/>
              </a:path>
            </a:pathLst>
          </a:custGeom>
          <a:blipFill>
            <a:blip r:embed="rId8"/>
            <a:stretch>
              <a:fillRect t="-6703"/>
            </a:stretch>
          </a:blipFill>
        </p:spPr>
      </p:sp>
      <p:sp>
        <p:nvSpPr>
          <p:cNvPr id="9" name="TextBox 9"/>
          <p:cNvSpPr txBox="1"/>
          <p:nvPr/>
        </p:nvSpPr>
        <p:spPr>
          <a:xfrm>
            <a:off x="1976660" y="519453"/>
            <a:ext cx="14057129" cy="1018494"/>
          </a:xfrm>
          <a:prstGeom prst="rect">
            <a:avLst/>
          </a:prstGeom>
        </p:spPr>
        <p:txBody>
          <a:bodyPr lIns="0" tIns="0" rIns="0" bIns="0" rtlCol="0" anchor="t">
            <a:spAutoFit/>
          </a:bodyPr>
          <a:lstStyle/>
          <a:p>
            <a:pPr marL="0" lvl="1" indent="0" algn="ctr">
              <a:lnSpc>
                <a:spcPts val="7833"/>
              </a:lnSpc>
            </a:pPr>
            <a:r>
              <a:rPr lang="en-US" sz="6695" spc="-93">
                <a:solidFill>
                  <a:srgbClr val="00694C"/>
                </a:solidFill>
                <a:latin typeface="Helvetica World"/>
                <a:ea typeface="Helvetica World"/>
                <a:cs typeface="Helvetica World"/>
                <a:sym typeface="Helvetica World"/>
              </a:rPr>
              <a:t>Hour-based ride usage during the day </a:t>
            </a:r>
          </a:p>
        </p:txBody>
      </p:sp>
      <p:sp>
        <p:nvSpPr>
          <p:cNvPr id="10" name="TextBox 10"/>
          <p:cNvSpPr txBox="1"/>
          <p:nvPr/>
        </p:nvSpPr>
        <p:spPr>
          <a:xfrm>
            <a:off x="7511114" y="5501647"/>
            <a:ext cx="1251885" cy="596770"/>
          </a:xfrm>
          <a:prstGeom prst="rect">
            <a:avLst/>
          </a:prstGeom>
        </p:spPr>
        <p:txBody>
          <a:bodyPr wrap="square" lIns="0" tIns="0" rIns="0" bIns="0" rtlCol="0" anchor="t">
            <a:spAutoFit/>
          </a:bodyPr>
          <a:lstStyle/>
          <a:p>
            <a:pPr algn="ctr">
              <a:lnSpc>
                <a:spcPts val="4576"/>
              </a:lnSpc>
              <a:spcBef>
                <a:spcPct val="0"/>
              </a:spcBef>
            </a:pPr>
            <a:r>
              <a:rPr lang="en-US" sz="3979" spc="-183" dirty="0">
                <a:solidFill>
                  <a:srgbClr val="00694C"/>
                </a:solidFill>
                <a:latin typeface="Helvetica World"/>
                <a:ea typeface="Helvetica World"/>
                <a:cs typeface="Helvetica World"/>
                <a:sym typeface="Helvetica World"/>
              </a:rPr>
              <a:t>8 AM</a:t>
            </a:r>
          </a:p>
        </p:txBody>
      </p:sp>
      <p:sp>
        <p:nvSpPr>
          <p:cNvPr id="11" name="TextBox 11"/>
          <p:cNvSpPr txBox="1"/>
          <p:nvPr/>
        </p:nvSpPr>
        <p:spPr>
          <a:xfrm>
            <a:off x="10998018" y="4591410"/>
            <a:ext cx="1422581" cy="596770"/>
          </a:xfrm>
          <a:prstGeom prst="rect">
            <a:avLst/>
          </a:prstGeom>
        </p:spPr>
        <p:txBody>
          <a:bodyPr wrap="square" lIns="0" tIns="0" rIns="0" bIns="0" rtlCol="0" anchor="t">
            <a:spAutoFit/>
          </a:bodyPr>
          <a:lstStyle/>
          <a:p>
            <a:pPr algn="ctr">
              <a:lnSpc>
                <a:spcPts val="4576"/>
              </a:lnSpc>
              <a:spcBef>
                <a:spcPct val="0"/>
              </a:spcBef>
            </a:pPr>
            <a:r>
              <a:rPr lang="en-US" sz="3979" spc="-183" dirty="0">
                <a:solidFill>
                  <a:srgbClr val="00694C"/>
                </a:solidFill>
                <a:latin typeface="Helvetica World"/>
                <a:ea typeface="Helvetica World"/>
                <a:cs typeface="Helvetica World"/>
                <a:sym typeface="Helvetica World"/>
              </a:rPr>
              <a:t>5 PM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8617849" y="67352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alphaModFix amt="50000"/>
            </a:blip>
            <a:stretch>
              <a:fillRect/>
            </a:stretch>
          </a:blipFill>
        </p:spPr>
      </p:sp>
      <p:sp>
        <p:nvSpPr>
          <p:cNvPr id="4" name="Freeform 4"/>
          <p:cNvSpPr/>
          <p:nvPr/>
        </p:nvSpPr>
        <p:spPr>
          <a:xfrm>
            <a:off x="16435597" y="8434597"/>
            <a:ext cx="823703" cy="823703"/>
          </a:xfrm>
          <a:custGeom>
            <a:avLst/>
            <a:gdLst/>
            <a:ahLst/>
            <a:cxnLst/>
            <a:rect l="l" t="t" r="r" b="b"/>
            <a:pathLst>
              <a:path w="823703" h="823703">
                <a:moveTo>
                  <a:pt x="0" y="0"/>
                </a:moveTo>
                <a:lnTo>
                  <a:pt x="823703" y="0"/>
                </a:lnTo>
                <a:lnTo>
                  <a:pt x="823703" y="823703"/>
                </a:lnTo>
                <a:lnTo>
                  <a:pt x="0" y="82370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15040677" y="3425466"/>
            <a:ext cx="3613543" cy="4114800"/>
          </a:xfrm>
          <a:custGeom>
            <a:avLst/>
            <a:gdLst/>
            <a:ahLst/>
            <a:cxnLst/>
            <a:rect l="l" t="t" r="r" b="b"/>
            <a:pathLst>
              <a:path w="3613543" h="4114800">
                <a:moveTo>
                  <a:pt x="0" y="0"/>
                </a:moveTo>
                <a:lnTo>
                  <a:pt x="3613543" y="0"/>
                </a:lnTo>
                <a:lnTo>
                  <a:pt x="3613543" y="4114800"/>
                </a:lnTo>
                <a:lnTo>
                  <a:pt x="0" y="4114800"/>
                </a:lnTo>
                <a:lnTo>
                  <a:pt x="0" y="0"/>
                </a:lnTo>
                <a:close/>
              </a:path>
            </a:pathLst>
          </a:custGeom>
          <a:blipFill>
            <a:blip r:embed="rId6">
              <a:alphaModFix amt="9999"/>
              <a:extLst>
                <a:ext uri="{96DAC541-7B7A-43D3-8B79-37D633B846F1}">
                  <asvg:svgBlip xmlns:asvg="http://schemas.microsoft.com/office/drawing/2016/SVG/main" xmlns="" r:embed="rId7"/>
                </a:ext>
              </a:extLst>
            </a:blip>
            <a:stretch>
              <a:fillRect/>
            </a:stretch>
          </a:blipFill>
        </p:spPr>
      </p:sp>
      <p:sp>
        <p:nvSpPr>
          <p:cNvPr id="6" name="Freeform 6"/>
          <p:cNvSpPr/>
          <p:nvPr/>
        </p:nvSpPr>
        <p:spPr>
          <a:xfrm>
            <a:off x="-4382394" y="616849"/>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alphaModFix amt="80000"/>
            </a:blip>
            <a:stretch>
              <a:fillRect/>
            </a:stretch>
          </a:blipFill>
        </p:spPr>
      </p:sp>
      <p:sp>
        <p:nvSpPr>
          <p:cNvPr id="7" name="Freeform 7"/>
          <p:cNvSpPr/>
          <p:nvPr/>
        </p:nvSpPr>
        <p:spPr>
          <a:xfrm>
            <a:off x="-2669630" y="1623504"/>
            <a:ext cx="5916762" cy="5916762"/>
          </a:xfrm>
          <a:custGeom>
            <a:avLst/>
            <a:gdLst/>
            <a:ahLst/>
            <a:cxnLst/>
            <a:rect l="l" t="t" r="r" b="b"/>
            <a:pathLst>
              <a:path w="5916762" h="5916762">
                <a:moveTo>
                  <a:pt x="0" y="0"/>
                </a:moveTo>
                <a:lnTo>
                  <a:pt x="5916761" y="0"/>
                </a:lnTo>
                <a:lnTo>
                  <a:pt x="5916761" y="5916762"/>
                </a:lnTo>
                <a:lnTo>
                  <a:pt x="0" y="5916762"/>
                </a:lnTo>
                <a:lnTo>
                  <a:pt x="0" y="0"/>
                </a:lnTo>
                <a:close/>
              </a:path>
            </a:pathLst>
          </a:custGeom>
          <a:blipFill>
            <a:blip r:embed="rId8">
              <a:alphaModFix amt="9999"/>
              <a:extLst>
                <a:ext uri="{96DAC541-7B7A-43D3-8B79-37D633B846F1}">
                  <asvg:svgBlip xmlns:asvg="http://schemas.microsoft.com/office/drawing/2016/SVG/main" xmlns="" r:embed="rId9"/>
                </a:ext>
              </a:extLst>
            </a:blip>
            <a:stretch>
              <a:fillRect/>
            </a:stretch>
          </a:blipFill>
        </p:spPr>
      </p:sp>
      <p:sp>
        <p:nvSpPr>
          <p:cNvPr id="8" name="AutoShape 8"/>
          <p:cNvSpPr/>
          <p:nvPr/>
        </p:nvSpPr>
        <p:spPr>
          <a:xfrm flipV="1">
            <a:off x="2727956" y="1605924"/>
            <a:ext cx="13053246" cy="8056"/>
          </a:xfrm>
          <a:prstGeom prst="line">
            <a:avLst/>
          </a:prstGeom>
          <a:ln w="19050" cap="flat">
            <a:solidFill>
              <a:srgbClr val="00694C"/>
            </a:solidFill>
            <a:prstDash val="solid"/>
            <a:headEnd type="none" w="sm" len="sm"/>
            <a:tailEnd type="none" w="sm" len="sm"/>
          </a:ln>
        </p:spPr>
      </p:sp>
      <p:sp>
        <p:nvSpPr>
          <p:cNvPr id="9" name="Freeform 9"/>
          <p:cNvSpPr/>
          <p:nvPr/>
        </p:nvSpPr>
        <p:spPr>
          <a:xfrm>
            <a:off x="2378468" y="1999081"/>
            <a:ext cx="14232099" cy="6570406"/>
          </a:xfrm>
          <a:custGeom>
            <a:avLst/>
            <a:gdLst/>
            <a:ahLst/>
            <a:cxnLst/>
            <a:rect l="l" t="t" r="r" b="b"/>
            <a:pathLst>
              <a:path w="14232099" h="6570406">
                <a:moveTo>
                  <a:pt x="0" y="0"/>
                </a:moveTo>
                <a:lnTo>
                  <a:pt x="14232100" y="0"/>
                </a:lnTo>
                <a:lnTo>
                  <a:pt x="14232100" y="6570405"/>
                </a:lnTo>
                <a:lnTo>
                  <a:pt x="0" y="6570405"/>
                </a:lnTo>
                <a:lnTo>
                  <a:pt x="0" y="0"/>
                </a:lnTo>
                <a:close/>
              </a:path>
            </a:pathLst>
          </a:custGeom>
          <a:blipFill>
            <a:blip r:embed="rId10"/>
            <a:stretch>
              <a:fillRect t="-5867"/>
            </a:stretch>
          </a:blipFill>
        </p:spPr>
      </p:sp>
      <p:sp>
        <p:nvSpPr>
          <p:cNvPr id="10" name="TextBox 10"/>
          <p:cNvSpPr txBox="1"/>
          <p:nvPr/>
        </p:nvSpPr>
        <p:spPr>
          <a:xfrm>
            <a:off x="2378468" y="416315"/>
            <a:ext cx="13752223" cy="1018494"/>
          </a:xfrm>
          <a:prstGeom prst="rect">
            <a:avLst/>
          </a:prstGeom>
        </p:spPr>
        <p:txBody>
          <a:bodyPr lIns="0" tIns="0" rIns="0" bIns="0" rtlCol="0" anchor="t">
            <a:spAutoFit/>
          </a:bodyPr>
          <a:lstStyle/>
          <a:p>
            <a:pPr marL="0" lvl="1" indent="0" algn="ctr">
              <a:lnSpc>
                <a:spcPts val="7833"/>
              </a:lnSpc>
            </a:pPr>
            <a:r>
              <a:rPr lang="en-US" sz="6695" spc="-93">
                <a:solidFill>
                  <a:srgbClr val="00694C"/>
                </a:solidFill>
                <a:latin typeface="Helvetica World"/>
                <a:ea typeface="Helvetica World"/>
                <a:cs typeface="Helvetica World"/>
                <a:sym typeface="Helvetica World"/>
              </a:rPr>
              <a:t>Hourly ride usage during a full week</a:t>
            </a:r>
          </a:p>
        </p:txBody>
      </p:sp>
      <p:sp>
        <p:nvSpPr>
          <p:cNvPr id="11" name="AutoShape 11"/>
          <p:cNvSpPr/>
          <p:nvPr/>
        </p:nvSpPr>
        <p:spPr>
          <a:xfrm>
            <a:off x="5760476" y="2988322"/>
            <a:ext cx="7468084" cy="0"/>
          </a:xfrm>
          <a:prstGeom prst="line">
            <a:avLst/>
          </a:prstGeom>
          <a:ln w="152400" cap="flat">
            <a:solidFill>
              <a:srgbClr val="00694C"/>
            </a:solidFill>
            <a:prstDash val="solid"/>
            <a:headEnd type="none" w="sm" len="sm"/>
            <a:tailEnd type="none" w="sm" len="sm"/>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83416" b="-83416"/>
            </a:stretch>
          </a:blipFill>
        </p:spPr>
      </p:sp>
      <p:sp>
        <p:nvSpPr>
          <p:cNvPr id="3" name="Freeform 3"/>
          <p:cNvSpPr/>
          <p:nvPr/>
        </p:nvSpPr>
        <p:spPr>
          <a:xfrm>
            <a:off x="2836896" y="-3680904"/>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alphaModFix amt="50000"/>
            </a:blip>
            <a:stretch>
              <a:fillRect/>
            </a:stretch>
          </a:blipFill>
        </p:spPr>
      </p:sp>
      <p:sp>
        <p:nvSpPr>
          <p:cNvPr id="4" name="Freeform 4"/>
          <p:cNvSpPr/>
          <p:nvPr/>
        </p:nvSpPr>
        <p:spPr>
          <a:xfrm>
            <a:off x="-5196416" y="6303202"/>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alphaModFix amt="80000"/>
            </a:blip>
            <a:stretch>
              <a:fillRect/>
            </a:stretch>
          </a:blipFill>
        </p:spPr>
      </p:sp>
      <p:sp>
        <p:nvSpPr>
          <p:cNvPr id="5" name="Freeform 5"/>
          <p:cNvSpPr/>
          <p:nvPr/>
        </p:nvSpPr>
        <p:spPr>
          <a:xfrm>
            <a:off x="-4873620" y="1425733"/>
            <a:ext cx="7039992" cy="7039992"/>
          </a:xfrm>
          <a:custGeom>
            <a:avLst/>
            <a:gdLst/>
            <a:ahLst/>
            <a:cxnLst/>
            <a:rect l="l" t="t" r="r" b="b"/>
            <a:pathLst>
              <a:path w="7039992" h="7039992">
                <a:moveTo>
                  <a:pt x="0" y="0"/>
                </a:moveTo>
                <a:lnTo>
                  <a:pt x="7039992" y="0"/>
                </a:lnTo>
                <a:lnTo>
                  <a:pt x="7039992" y="7039992"/>
                </a:lnTo>
                <a:lnTo>
                  <a:pt x="0" y="7039992"/>
                </a:lnTo>
                <a:lnTo>
                  <a:pt x="0" y="0"/>
                </a:lnTo>
                <a:close/>
              </a:path>
            </a:pathLst>
          </a:custGeom>
          <a:blipFill>
            <a:blip r:embed="rId4">
              <a:alphaModFix amt="9999"/>
              <a:extLst>
                <a:ext uri="{96DAC541-7B7A-43D3-8B79-37D633B846F1}">
                  <asvg:svgBlip xmlns:asvg="http://schemas.microsoft.com/office/drawing/2016/SVG/main" xmlns="" r:embed="rId5"/>
                </a:ext>
              </a:extLst>
            </a:blip>
            <a:stretch>
              <a:fillRect/>
            </a:stretch>
          </a:blipFill>
        </p:spPr>
      </p:sp>
      <p:sp>
        <p:nvSpPr>
          <p:cNvPr id="6" name="AutoShape 6"/>
          <p:cNvSpPr/>
          <p:nvPr/>
        </p:nvSpPr>
        <p:spPr>
          <a:xfrm>
            <a:off x="1759119" y="2124267"/>
            <a:ext cx="6718303" cy="0"/>
          </a:xfrm>
          <a:prstGeom prst="line">
            <a:avLst/>
          </a:prstGeom>
          <a:ln w="19050" cap="flat">
            <a:solidFill>
              <a:srgbClr val="00694C"/>
            </a:solidFill>
            <a:prstDash val="solid"/>
            <a:headEnd type="none" w="sm" len="sm"/>
            <a:tailEnd type="none" w="sm" len="sm"/>
          </a:ln>
        </p:spPr>
      </p:sp>
      <p:sp>
        <p:nvSpPr>
          <p:cNvPr id="7" name="Freeform 7"/>
          <p:cNvSpPr/>
          <p:nvPr/>
        </p:nvSpPr>
        <p:spPr>
          <a:xfrm>
            <a:off x="11787716" y="1463210"/>
            <a:ext cx="4164810" cy="7360579"/>
          </a:xfrm>
          <a:custGeom>
            <a:avLst/>
            <a:gdLst/>
            <a:ahLst/>
            <a:cxnLst/>
            <a:rect l="l" t="t" r="r" b="b"/>
            <a:pathLst>
              <a:path w="4164810" h="7360579">
                <a:moveTo>
                  <a:pt x="0" y="0"/>
                </a:moveTo>
                <a:lnTo>
                  <a:pt x="4164810" y="0"/>
                </a:lnTo>
                <a:lnTo>
                  <a:pt x="4164810" y="7360580"/>
                </a:lnTo>
                <a:lnTo>
                  <a:pt x="0" y="7360580"/>
                </a:lnTo>
                <a:lnTo>
                  <a:pt x="0" y="0"/>
                </a:lnTo>
                <a:close/>
              </a:path>
            </a:pathLst>
          </a:custGeom>
          <a:blipFill>
            <a:blip r:embed="rId6"/>
            <a:stretch>
              <a:fillRect/>
            </a:stretch>
          </a:blipFill>
        </p:spPr>
      </p:sp>
      <p:sp>
        <p:nvSpPr>
          <p:cNvPr id="8" name="TextBox 8"/>
          <p:cNvSpPr txBox="1"/>
          <p:nvPr/>
        </p:nvSpPr>
        <p:spPr>
          <a:xfrm>
            <a:off x="1759119" y="736725"/>
            <a:ext cx="10661248" cy="1387542"/>
          </a:xfrm>
          <a:prstGeom prst="rect">
            <a:avLst/>
          </a:prstGeom>
        </p:spPr>
        <p:txBody>
          <a:bodyPr lIns="0" tIns="0" rIns="0" bIns="0" rtlCol="0" anchor="t">
            <a:spAutoFit/>
          </a:bodyPr>
          <a:lstStyle/>
          <a:p>
            <a:pPr marL="0" lvl="1" indent="0" algn="l">
              <a:lnSpc>
                <a:spcPts val="10745"/>
              </a:lnSpc>
            </a:pPr>
            <a:r>
              <a:rPr lang="en-US" sz="9184" spc="-128">
                <a:solidFill>
                  <a:srgbClr val="00694C"/>
                </a:solidFill>
                <a:latin typeface="Helvetica World"/>
                <a:ea typeface="Helvetica World"/>
                <a:cs typeface="Helvetica World"/>
                <a:sym typeface="Helvetica World"/>
              </a:rPr>
              <a:t>Ride Duration</a:t>
            </a:r>
          </a:p>
        </p:txBody>
      </p:sp>
      <p:sp>
        <p:nvSpPr>
          <p:cNvPr id="9" name="TextBox 9"/>
          <p:cNvSpPr txBox="1"/>
          <p:nvPr/>
        </p:nvSpPr>
        <p:spPr>
          <a:xfrm>
            <a:off x="1510381" y="3951925"/>
            <a:ext cx="8628116" cy="596770"/>
          </a:xfrm>
          <a:prstGeom prst="rect">
            <a:avLst/>
          </a:prstGeom>
        </p:spPr>
        <p:txBody>
          <a:bodyPr lIns="0" tIns="0" rIns="0" bIns="0" rtlCol="0" anchor="t">
            <a:spAutoFit/>
          </a:bodyPr>
          <a:lstStyle/>
          <a:p>
            <a:pPr marL="859195" lvl="1" indent="-429598" algn="l">
              <a:lnSpc>
                <a:spcPts val="4576"/>
              </a:lnSpc>
              <a:buFont typeface="Arial"/>
              <a:buChar char="•"/>
            </a:pPr>
            <a:r>
              <a:rPr lang="en-US" sz="3979" spc="-183" dirty="0">
                <a:solidFill>
                  <a:srgbClr val="00694C"/>
                </a:solidFill>
                <a:latin typeface="Helvetica World"/>
                <a:ea typeface="Helvetica World"/>
                <a:cs typeface="Helvetica World"/>
                <a:sym typeface="Helvetica World"/>
              </a:rPr>
              <a:t>Casual riders ride </a:t>
            </a:r>
            <a:r>
              <a:rPr lang="en-US" sz="3979" spc="-183" dirty="0" smtClean="0">
                <a:solidFill>
                  <a:srgbClr val="00694C"/>
                </a:solidFill>
                <a:latin typeface="Helvetica World"/>
                <a:ea typeface="Helvetica World"/>
                <a:cs typeface="Helvetica World"/>
                <a:sym typeface="Helvetica World"/>
              </a:rPr>
              <a:t>for longer </a:t>
            </a:r>
            <a:r>
              <a:rPr lang="en-US" sz="3979" spc="-183" dirty="0">
                <a:solidFill>
                  <a:srgbClr val="00694C"/>
                </a:solidFill>
                <a:latin typeface="Helvetica World"/>
                <a:ea typeface="Helvetica World"/>
                <a:cs typeface="Helvetica World"/>
                <a:sym typeface="Helvetica World"/>
              </a:rPr>
              <a:t>durations.</a:t>
            </a:r>
          </a:p>
        </p:txBody>
      </p:sp>
      <p:sp>
        <p:nvSpPr>
          <p:cNvPr id="10" name="TextBox 10"/>
          <p:cNvSpPr txBox="1"/>
          <p:nvPr/>
        </p:nvSpPr>
        <p:spPr>
          <a:xfrm>
            <a:off x="1917634" y="3284670"/>
            <a:ext cx="2888003" cy="657730"/>
          </a:xfrm>
          <a:prstGeom prst="rect">
            <a:avLst/>
          </a:prstGeom>
        </p:spPr>
        <p:txBody>
          <a:bodyPr lIns="0" tIns="0" rIns="0" bIns="0" rtlCol="0" anchor="t">
            <a:spAutoFit/>
          </a:bodyPr>
          <a:lstStyle/>
          <a:p>
            <a:pPr algn="l">
              <a:lnSpc>
                <a:spcPts val="4576"/>
              </a:lnSpc>
            </a:pPr>
            <a:r>
              <a:rPr lang="en-US" sz="3979" b="1" spc="-183" dirty="0">
                <a:solidFill>
                  <a:srgbClr val="00694C"/>
                </a:solidFill>
                <a:latin typeface="Helvetica World Bold"/>
                <a:ea typeface="Helvetica World Bold"/>
                <a:cs typeface="Helvetica World Bold"/>
                <a:sym typeface="Helvetica World Bold"/>
              </a:rPr>
              <a:t>Insights: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sp>
        <p:nvSpPr>
          <p:cNvPr id="3" name="Freeform 3"/>
          <p:cNvSpPr/>
          <p:nvPr/>
        </p:nvSpPr>
        <p:spPr>
          <a:xfrm>
            <a:off x="-2033102" y="-3813181"/>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alphaModFix amt="50000"/>
            </a:blip>
            <a:stretch>
              <a:fillRect/>
            </a:stretch>
          </a:blipFill>
        </p:spPr>
      </p:sp>
      <p:sp>
        <p:nvSpPr>
          <p:cNvPr id="4" name="Freeform 4"/>
          <p:cNvSpPr/>
          <p:nvPr/>
        </p:nvSpPr>
        <p:spPr>
          <a:xfrm>
            <a:off x="12159106" y="5708398"/>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alphaModFix amt="80000"/>
            </a:blip>
            <a:stretch>
              <a:fillRect/>
            </a:stretch>
          </a:blipFill>
        </p:spPr>
      </p:sp>
      <p:sp>
        <p:nvSpPr>
          <p:cNvPr id="5" name="Freeform 5"/>
          <p:cNvSpPr/>
          <p:nvPr/>
        </p:nvSpPr>
        <p:spPr>
          <a:xfrm>
            <a:off x="16435597" y="8434597"/>
            <a:ext cx="823703" cy="823703"/>
          </a:xfrm>
          <a:custGeom>
            <a:avLst/>
            <a:gdLst/>
            <a:ahLst/>
            <a:cxnLst/>
            <a:rect l="l" t="t" r="r" b="b"/>
            <a:pathLst>
              <a:path w="823703" h="823703">
                <a:moveTo>
                  <a:pt x="0" y="0"/>
                </a:moveTo>
                <a:lnTo>
                  <a:pt x="823703" y="0"/>
                </a:lnTo>
                <a:lnTo>
                  <a:pt x="823703" y="823703"/>
                </a:lnTo>
                <a:lnTo>
                  <a:pt x="0" y="82370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6" name="TextBox 6"/>
          <p:cNvSpPr txBox="1"/>
          <p:nvPr/>
        </p:nvSpPr>
        <p:spPr>
          <a:xfrm>
            <a:off x="1955901" y="1650504"/>
            <a:ext cx="12761546" cy="1387542"/>
          </a:xfrm>
          <a:prstGeom prst="rect">
            <a:avLst/>
          </a:prstGeom>
        </p:spPr>
        <p:txBody>
          <a:bodyPr lIns="0" tIns="0" rIns="0" bIns="0" rtlCol="0" anchor="t">
            <a:spAutoFit/>
          </a:bodyPr>
          <a:lstStyle/>
          <a:p>
            <a:pPr marL="0" lvl="1" indent="0" algn="l">
              <a:lnSpc>
                <a:spcPts val="10745"/>
              </a:lnSpc>
            </a:pPr>
            <a:r>
              <a:rPr lang="en-US" sz="9184" spc="-128">
                <a:solidFill>
                  <a:srgbClr val="00694C"/>
                </a:solidFill>
                <a:latin typeface="Helvetica World"/>
                <a:ea typeface="Helvetica World"/>
                <a:cs typeface="Helvetica World"/>
                <a:sym typeface="Helvetica World"/>
              </a:rPr>
              <a:t>Key Insights and findings</a:t>
            </a:r>
          </a:p>
        </p:txBody>
      </p:sp>
      <p:sp>
        <p:nvSpPr>
          <p:cNvPr id="7" name="Freeform 7"/>
          <p:cNvSpPr/>
          <p:nvPr/>
        </p:nvSpPr>
        <p:spPr>
          <a:xfrm>
            <a:off x="14951462" y="2590590"/>
            <a:ext cx="6235615" cy="6235615"/>
          </a:xfrm>
          <a:custGeom>
            <a:avLst/>
            <a:gdLst/>
            <a:ahLst/>
            <a:cxnLst/>
            <a:rect l="l" t="t" r="r" b="b"/>
            <a:pathLst>
              <a:path w="6235615" h="6235615">
                <a:moveTo>
                  <a:pt x="0" y="0"/>
                </a:moveTo>
                <a:lnTo>
                  <a:pt x="6235615" y="0"/>
                </a:lnTo>
                <a:lnTo>
                  <a:pt x="6235615" y="6235615"/>
                </a:lnTo>
                <a:lnTo>
                  <a:pt x="0" y="6235615"/>
                </a:lnTo>
                <a:lnTo>
                  <a:pt x="0" y="0"/>
                </a:lnTo>
                <a:close/>
              </a:path>
            </a:pathLst>
          </a:custGeom>
          <a:blipFill>
            <a:blip r:embed="rId6">
              <a:alphaModFix amt="9999"/>
              <a:extLst>
                <a:ext uri="{96DAC541-7B7A-43D3-8B79-37D633B846F1}">
                  <asvg:svgBlip xmlns:asvg="http://schemas.microsoft.com/office/drawing/2016/SVG/main" xmlns="" r:embed="rId7"/>
                </a:ext>
              </a:extLst>
            </a:blip>
            <a:stretch>
              <a:fillRect/>
            </a:stretch>
          </a:blipFill>
        </p:spPr>
      </p:sp>
      <p:sp>
        <p:nvSpPr>
          <p:cNvPr id="8" name="AutoShape 8"/>
          <p:cNvSpPr/>
          <p:nvPr/>
        </p:nvSpPr>
        <p:spPr>
          <a:xfrm flipV="1">
            <a:off x="1955901" y="3038046"/>
            <a:ext cx="12476907" cy="9525"/>
          </a:xfrm>
          <a:prstGeom prst="line">
            <a:avLst/>
          </a:prstGeom>
          <a:ln w="19050" cap="flat">
            <a:solidFill>
              <a:srgbClr val="00694C"/>
            </a:solidFill>
            <a:prstDash val="solid"/>
            <a:headEnd type="none" w="sm" len="sm"/>
            <a:tailEnd type="none" w="sm" len="sm"/>
          </a:ln>
        </p:spPr>
      </p:sp>
      <p:sp>
        <p:nvSpPr>
          <p:cNvPr id="9" name="TextBox 9"/>
          <p:cNvSpPr txBox="1"/>
          <p:nvPr/>
        </p:nvSpPr>
        <p:spPr>
          <a:xfrm>
            <a:off x="1792630" y="3381187"/>
            <a:ext cx="14037996" cy="4663945"/>
          </a:xfrm>
          <a:prstGeom prst="rect">
            <a:avLst/>
          </a:prstGeom>
        </p:spPr>
        <p:txBody>
          <a:bodyPr lIns="0" tIns="0" rIns="0" bIns="0" rtlCol="0" anchor="t">
            <a:spAutoFit/>
          </a:bodyPr>
          <a:lstStyle/>
          <a:p>
            <a:pPr marL="859195" lvl="1" indent="-429598" algn="l">
              <a:lnSpc>
                <a:spcPts val="4576"/>
              </a:lnSpc>
              <a:buFont typeface="Arial"/>
              <a:buChar char="•"/>
            </a:pPr>
            <a:r>
              <a:rPr lang="en-US" sz="3979" spc="-183" dirty="0">
                <a:solidFill>
                  <a:srgbClr val="00694C"/>
                </a:solidFill>
                <a:latin typeface="Helvetica World"/>
                <a:ea typeface="Helvetica World"/>
                <a:cs typeface="Helvetica World"/>
                <a:sym typeface="Helvetica World"/>
              </a:rPr>
              <a:t>Membership riders use the bikes to commute to work</a:t>
            </a:r>
          </a:p>
          <a:p>
            <a:pPr marL="859195" lvl="1" indent="-429598" algn="l">
              <a:lnSpc>
                <a:spcPts val="4576"/>
              </a:lnSpc>
              <a:buFont typeface="Arial"/>
              <a:buChar char="•"/>
            </a:pPr>
            <a:r>
              <a:rPr lang="en-US" sz="3979" spc="-183" dirty="0">
                <a:solidFill>
                  <a:srgbClr val="00694C"/>
                </a:solidFill>
                <a:latin typeface="Helvetica World"/>
                <a:ea typeface="Helvetica World"/>
                <a:cs typeface="Helvetica World"/>
                <a:sym typeface="Helvetica World"/>
              </a:rPr>
              <a:t>Casual riders use the bikes on weekends </a:t>
            </a:r>
          </a:p>
          <a:p>
            <a:pPr marL="859195" lvl="1" indent="-429598" algn="l">
              <a:lnSpc>
                <a:spcPts val="4576"/>
              </a:lnSpc>
              <a:buFont typeface="Arial"/>
              <a:buChar char="•"/>
            </a:pPr>
            <a:r>
              <a:rPr lang="en-US" sz="3979" spc="-183" dirty="0">
                <a:solidFill>
                  <a:srgbClr val="00694C"/>
                </a:solidFill>
                <a:latin typeface="Helvetica World"/>
                <a:ea typeface="Helvetica World"/>
                <a:cs typeface="Helvetica World"/>
                <a:sym typeface="Helvetica World"/>
              </a:rPr>
              <a:t>Weekdays usage of casual riders is seen during the evening time</a:t>
            </a:r>
          </a:p>
          <a:p>
            <a:pPr marL="859195" lvl="1" indent="-429598" algn="l">
              <a:lnSpc>
                <a:spcPts val="4576"/>
              </a:lnSpc>
              <a:buFont typeface="Arial"/>
              <a:buChar char="•"/>
            </a:pPr>
            <a:r>
              <a:rPr lang="en-US" sz="3979" spc="-183" dirty="0">
                <a:solidFill>
                  <a:srgbClr val="00694C"/>
                </a:solidFill>
                <a:latin typeface="Helvetica World"/>
                <a:ea typeface="Helvetica World"/>
                <a:cs typeface="Helvetica World"/>
                <a:sym typeface="Helvetica World"/>
              </a:rPr>
              <a:t>Majority of riders prefer electric bikes over classic bikes</a:t>
            </a:r>
          </a:p>
          <a:p>
            <a:pPr marL="859195" lvl="1" indent="-429598" algn="l">
              <a:lnSpc>
                <a:spcPts val="4576"/>
              </a:lnSpc>
              <a:buFont typeface="Arial"/>
              <a:buChar char="•"/>
            </a:pPr>
            <a:r>
              <a:rPr lang="en-US" sz="3979" spc="-183" dirty="0">
                <a:solidFill>
                  <a:srgbClr val="00694C"/>
                </a:solidFill>
                <a:latin typeface="Helvetica World"/>
                <a:ea typeface="Helvetica World"/>
                <a:cs typeface="Helvetica World"/>
                <a:sym typeface="Helvetica World"/>
              </a:rPr>
              <a:t>Weekend usage of both members and casuals are similar</a:t>
            </a:r>
          </a:p>
          <a:p>
            <a:pPr marL="859195" lvl="1" indent="-429598" algn="l">
              <a:lnSpc>
                <a:spcPts val="4576"/>
              </a:lnSpc>
              <a:buFont typeface="Arial"/>
              <a:buChar char="•"/>
            </a:pPr>
            <a:r>
              <a:rPr lang="en-US" sz="3979" spc="-183" dirty="0">
                <a:solidFill>
                  <a:srgbClr val="00694C"/>
                </a:solidFill>
                <a:latin typeface="Helvetica World"/>
                <a:ea typeface="Helvetica World"/>
                <a:cs typeface="Helvetica World"/>
                <a:sym typeface="Helvetica World"/>
              </a:rPr>
              <a:t>Casual riders ride for longer duration as compared to members</a:t>
            </a:r>
          </a:p>
          <a:p>
            <a:pPr algn="l">
              <a:lnSpc>
                <a:spcPts val="4576"/>
              </a:lnSpc>
            </a:pPr>
            <a:endParaRPr lang="en-US" sz="3979" spc="-183" dirty="0">
              <a:solidFill>
                <a:srgbClr val="00694C"/>
              </a:solidFill>
              <a:latin typeface="Helvetica World"/>
              <a:ea typeface="Helvetica World"/>
              <a:cs typeface="Helvetica World"/>
              <a:sym typeface="Helvetica World"/>
            </a:endParaRPr>
          </a:p>
          <a:p>
            <a:pPr algn="l">
              <a:lnSpc>
                <a:spcPts val="4576"/>
              </a:lnSpc>
            </a:pPr>
            <a:endParaRPr lang="en-US" sz="3979" spc="-183" dirty="0">
              <a:solidFill>
                <a:srgbClr val="00694C"/>
              </a:solidFill>
              <a:latin typeface="Helvetica World"/>
              <a:ea typeface="Helvetica World"/>
              <a:cs typeface="Helvetica World"/>
              <a:sym typeface="Helvetica World"/>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83416" b="-83416"/>
            </a:stretch>
          </a:blipFill>
        </p:spPr>
      </p:sp>
      <p:sp>
        <p:nvSpPr>
          <p:cNvPr id="3" name="Freeform 3"/>
          <p:cNvSpPr/>
          <p:nvPr/>
        </p:nvSpPr>
        <p:spPr>
          <a:xfrm>
            <a:off x="8261172" y="-5296778"/>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alphaModFix amt="50000"/>
            </a:blip>
            <a:stretch>
              <a:fillRect/>
            </a:stretch>
          </a:blipFill>
        </p:spPr>
      </p:sp>
      <p:sp>
        <p:nvSpPr>
          <p:cNvPr id="4" name="Freeform 4"/>
          <p:cNvSpPr/>
          <p:nvPr/>
        </p:nvSpPr>
        <p:spPr>
          <a:xfrm>
            <a:off x="-4459343" y="6220204"/>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alphaModFix amt="80000"/>
            </a:blip>
            <a:stretch>
              <a:fillRect/>
            </a:stretch>
          </a:blipFill>
        </p:spPr>
      </p:sp>
      <p:sp>
        <p:nvSpPr>
          <p:cNvPr id="5" name="Freeform 5"/>
          <p:cNvSpPr/>
          <p:nvPr/>
        </p:nvSpPr>
        <p:spPr>
          <a:xfrm>
            <a:off x="14399136" y="5774593"/>
            <a:ext cx="4183272" cy="4183272"/>
          </a:xfrm>
          <a:custGeom>
            <a:avLst/>
            <a:gdLst/>
            <a:ahLst/>
            <a:cxnLst/>
            <a:rect l="l" t="t" r="r" b="b"/>
            <a:pathLst>
              <a:path w="4183272" h="4183272">
                <a:moveTo>
                  <a:pt x="0" y="0"/>
                </a:moveTo>
                <a:lnTo>
                  <a:pt x="4183272" y="0"/>
                </a:lnTo>
                <a:lnTo>
                  <a:pt x="4183272" y="4183272"/>
                </a:lnTo>
                <a:lnTo>
                  <a:pt x="0" y="4183272"/>
                </a:lnTo>
                <a:lnTo>
                  <a:pt x="0" y="0"/>
                </a:lnTo>
                <a:close/>
              </a:path>
            </a:pathLst>
          </a:custGeom>
          <a:blipFill>
            <a:blip r:embed="rId4">
              <a:alphaModFix amt="9999"/>
              <a:extLst>
                <a:ext uri="{96DAC541-7B7A-43D3-8B79-37D633B846F1}">
                  <asvg:svgBlip xmlns:asvg="http://schemas.microsoft.com/office/drawing/2016/SVG/main" xmlns="" r:embed="rId5"/>
                </a:ext>
              </a:extLst>
            </a:blip>
            <a:stretch>
              <a:fillRect/>
            </a:stretch>
          </a:blipFill>
        </p:spPr>
      </p:sp>
      <p:sp>
        <p:nvSpPr>
          <p:cNvPr id="6" name="AutoShape 6"/>
          <p:cNvSpPr/>
          <p:nvPr/>
        </p:nvSpPr>
        <p:spPr>
          <a:xfrm flipV="1">
            <a:off x="2907488" y="2539179"/>
            <a:ext cx="9280639" cy="0"/>
          </a:xfrm>
          <a:prstGeom prst="line">
            <a:avLst/>
          </a:prstGeom>
          <a:ln w="19050" cap="flat">
            <a:solidFill>
              <a:srgbClr val="00694C"/>
            </a:solidFill>
            <a:prstDash val="solid"/>
            <a:headEnd type="none" w="sm" len="sm"/>
            <a:tailEnd type="none" w="sm" len="sm"/>
          </a:ln>
        </p:spPr>
      </p:sp>
      <p:sp>
        <p:nvSpPr>
          <p:cNvPr id="7" name="TextBox 7"/>
          <p:cNvSpPr txBox="1"/>
          <p:nvPr/>
        </p:nvSpPr>
        <p:spPr>
          <a:xfrm>
            <a:off x="1055079" y="1142112"/>
            <a:ext cx="12748833" cy="1387542"/>
          </a:xfrm>
          <a:prstGeom prst="rect">
            <a:avLst/>
          </a:prstGeom>
        </p:spPr>
        <p:txBody>
          <a:bodyPr lIns="0" tIns="0" rIns="0" bIns="0" rtlCol="0" anchor="t">
            <a:spAutoFit/>
          </a:bodyPr>
          <a:lstStyle/>
          <a:p>
            <a:pPr marL="0" lvl="1" indent="0" algn="ctr">
              <a:lnSpc>
                <a:spcPts val="10745"/>
              </a:lnSpc>
            </a:pPr>
            <a:r>
              <a:rPr lang="en-US" sz="9184" spc="-128">
                <a:solidFill>
                  <a:srgbClr val="00694C"/>
                </a:solidFill>
                <a:latin typeface="Helvetica World"/>
                <a:ea typeface="Helvetica World"/>
                <a:cs typeface="Helvetica World"/>
                <a:sym typeface="Helvetica World"/>
              </a:rPr>
              <a:t>Reccomendations</a:t>
            </a:r>
          </a:p>
        </p:txBody>
      </p:sp>
      <p:sp>
        <p:nvSpPr>
          <p:cNvPr id="8" name="TextBox 8"/>
          <p:cNvSpPr txBox="1"/>
          <p:nvPr/>
        </p:nvSpPr>
        <p:spPr>
          <a:xfrm>
            <a:off x="2343761" y="4387377"/>
            <a:ext cx="3794147" cy="2399030"/>
          </a:xfrm>
          <a:prstGeom prst="rect">
            <a:avLst/>
          </a:prstGeom>
        </p:spPr>
        <p:txBody>
          <a:bodyPr lIns="0" tIns="0" rIns="0" bIns="0" rtlCol="0" anchor="t">
            <a:spAutoFit/>
          </a:bodyPr>
          <a:lstStyle/>
          <a:p>
            <a:pPr algn="l">
              <a:lnSpc>
                <a:spcPts val="3220"/>
              </a:lnSpc>
            </a:pPr>
            <a:r>
              <a:rPr lang="en-US" sz="2300" dirty="0">
                <a:solidFill>
                  <a:srgbClr val="00694C"/>
                </a:solidFill>
                <a:latin typeface="Poppins"/>
                <a:ea typeface="Poppins"/>
                <a:cs typeface="Poppins"/>
                <a:sym typeface="Poppins"/>
              </a:rPr>
              <a:t>Offer Seasonal or quarter year (4 month) memberships, and packages for weekend rides in annual membership.</a:t>
            </a:r>
          </a:p>
        </p:txBody>
      </p:sp>
      <p:sp>
        <p:nvSpPr>
          <p:cNvPr id="9" name="TextBox 9"/>
          <p:cNvSpPr txBox="1"/>
          <p:nvPr/>
        </p:nvSpPr>
        <p:spPr>
          <a:xfrm>
            <a:off x="7107818" y="4387377"/>
            <a:ext cx="4188255" cy="1998980"/>
          </a:xfrm>
          <a:prstGeom prst="rect">
            <a:avLst/>
          </a:prstGeom>
        </p:spPr>
        <p:txBody>
          <a:bodyPr lIns="0" tIns="0" rIns="0" bIns="0" rtlCol="0" anchor="t">
            <a:spAutoFit/>
          </a:bodyPr>
          <a:lstStyle/>
          <a:p>
            <a:pPr algn="l">
              <a:lnSpc>
                <a:spcPts val="3219"/>
              </a:lnSpc>
            </a:pPr>
            <a:r>
              <a:rPr lang="en-US" sz="2299" dirty="0">
                <a:solidFill>
                  <a:srgbClr val="00694C"/>
                </a:solidFill>
                <a:latin typeface="Poppins"/>
                <a:ea typeface="Poppins"/>
                <a:cs typeface="Poppins"/>
                <a:sym typeface="Poppins"/>
              </a:rPr>
              <a:t>Offer beneficial packages for members, who ride longer then 20 minutes or rides that start between 12 PM and 5 PM.</a:t>
            </a:r>
          </a:p>
        </p:txBody>
      </p:sp>
      <p:sp>
        <p:nvSpPr>
          <p:cNvPr id="10" name="TextBox 10"/>
          <p:cNvSpPr txBox="1"/>
          <p:nvPr/>
        </p:nvSpPr>
        <p:spPr>
          <a:xfrm>
            <a:off x="2343761" y="3296362"/>
            <a:ext cx="2021050" cy="1025988"/>
          </a:xfrm>
          <a:prstGeom prst="rect">
            <a:avLst/>
          </a:prstGeom>
        </p:spPr>
        <p:txBody>
          <a:bodyPr lIns="0" tIns="0" rIns="0" bIns="0" rtlCol="0" anchor="t">
            <a:spAutoFit/>
          </a:bodyPr>
          <a:lstStyle/>
          <a:p>
            <a:pPr marL="0" lvl="1" indent="0" algn="l">
              <a:lnSpc>
                <a:spcPts val="7942"/>
              </a:lnSpc>
            </a:pPr>
            <a:r>
              <a:rPr lang="en-US" sz="6788" spc="-95">
                <a:solidFill>
                  <a:srgbClr val="00694C"/>
                </a:solidFill>
                <a:latin typeface="Helvetica World"/>
                <a:ea typeface="Helvetica World"/>
                <a:cs typeface="Helvetica World"/>
                <a:sym typeface="Helvetica World"/>
              </a:rPr>
              <a:t>01.</a:t>
            </a:r>
          </a:p>
        </p:txBody>
      </p:sp>
      <p:sp>
        <p:nvSpPr>
          <p:cNvPr id="11" name="TextBox 11"/>
          <p:cNvSpPr txBox="1"/>
          <p:nvPr/>
        </p:nvSpPr>
        <p:spPr>
          <a:xfrm>
            <a:off x="7107818" y="3181560"/>
            <a:ext cx="2021050" cy="1025988"/>
          </a:xfrm>
          <a:prstGeom prst="rect">
            <a:avLst/>
          </a:prstGeom>
        </p:spPr>
        <p:txBody>
          <a:bodyPr lIns="0" tIns="0" rIns="0" bIns="0" rtlCol="0" anchor="t">
            <a:spAutoFit/>
          </a:bodyPr>
          <a:lstStyle/>
          <a:p>
            <a:pPr marL="0" lvl="1" indent="0" algn="l">
              <a:lnSpc>
                <a:spcPts val="7942"/>
              </a:lnSpc>
            </a:pPr>
            <a:r>
              <a:rPr lang="en-US" sz="6788" spc="-95">
                <a:solidFill>
                  <a:srgbClr val="00694C"/>
                </a:solidFill>
                <a:latin typeface="Helvetica World"/>
                <a:ea typeface="Helvetica World"/>
                <a:cs typeface="Helvetica World"/>
                <a:sym typeface="Helvetica World"/>
              </a:rPr>
              <a:t>02.</a:t>
            </a:r>
          </a:p>
        </p:txBody>
      </p:sp>
      <p:sp>
        <p:nvSpPr>
          <p:cNvPr id="12" name="TextBox 12"/>
          <p:cNvSpPr txBox="1"/>
          <p:nvPr/>
        </p:nvSpPr>
        <p:spPr>
          <a:xfrm>
            <a:off x="11624400" y="4387377"/>
            <a:ext cx="4609197" cy="2399030"/>
          </a:xfrm>
          <a:prstGeom prst="rect">
            <a:avLst/>
          </a:prstGeom>
        </p:spPr>
        <p:txBody>
          <a:bodyPr lIns="0" tIns="0" rIns="0" bIns="0" rtlCol="0" anchor="t">
            <a:spAutoFit/>
          </a:bodyPr>
          <a:lstStyle/>
          <a:p>
            <a:pPr algn="l">
              <a:lnSpc>
                <a:spcPts val="3219"/>
              </a:lnSpc>
            </a:pPr>
            <a:r>
              <a:rPr lang="en-US" sz="2299" dirty="0">
                <a:solidFill>
                  <a:srgbClr val="00694C"/>
                </a:solidFill>
                <a:latin typeface="Poppins"/>
                <a:ea typeface="Poppins"/>
                <a:cs typeface="Poppins"/>
                <a:sym typeface="Poppins"/>
              </a:rPr>
              <a:t>Start Advertising around May till November,</a:t>
            </a:r>
          </a:p>
          <a:p>
            <a:pPr algn="l">
              <a:lnSpc>
                <a:spcPts val="3219"/>
              </a:lnSpc>
            </a:pPr>
            <a:r>
              <a:rPr lang="en-US" sz="2299" dirty="0">
                <a:solidFill>
                  <a:srgbClr val="00694C"/>
                </a:solidFill>
                <a:latin typeface="Poppins"/>
                <a:ea typeface="Poppins"/>
                <a:cs typeface="Poppins"/>
                <a:sym typeface="Poppins"/>
              </a:rPr>
              <a:t>Advertise Seasonal memberships and ride packages offered in annual membership.</a:t>
            </a:r>
          </a:p>
        </p:txBody>
      </p:sp>
      <p:sp>
        <p:nvSpPr>
          <p:cNvPr id="13" name="TextBox 13"/>
          <p:cNvSpPr txBox="1"/>
          <p:nvPr/>
        </p:nvSpPr>
        <p:spPr>
          <a:xfrm>
            <a:off x="11624400" y="3181560"/>
            <a:ext cx="2021050" cy="1025988"/>
          </a:xfrm>
          <a:prstGeom prst="rect">
            <a:avLst/>
          </a:prstGeom>
        </p:spPr>
        <p:txBody>
          <a:bodyPr lIns="0" tIns="0" rIns="0" bIns="0" rtlCol="0" anchor="t">
            <a:spAutoFit/>
          </a:bodyPr>
          <a:lstStyle/>
          <a:p>
            <a:pPr marL="0" lvl="1" indent="0" algn="l">
              <a:lnSpc>
                <a:spcPts val="7942"/>
              </a:lnSpc>
            </a:pPr>
            <a:r>
              <a:rPr lang="en-US" sz="6788" spc="-95">
                <a:solidFill>
                  <a:srgbClr val="00694C"/>
                </a:solidFill>
                <a:latin typeface="Helvetica World"/>
                <a:ea typeface="Helvetica World"/>
                <a:cs typeface="Helvetica World"/>
                <a:sym typeface="Helvetica World"/>
              </a:rPr>
              <a:t>03.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83416" b="-83416"/>
            </a:stretch>
          </a:blipFill>
        </p:spPr>
      </p:sp>
      <p:sp>
        <p:nvSpPr>
          <p:cNvPr id="3" name="Freeform 3"/>
          <p:cNvSpPr/>
          <p:nvPr/>
        </p:nvSpPr>
        <p:spPr>
          <a:xfrm>
            <a:off x="-2072254" y="5143500"/>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alphaModFix amt="50000"/>
            </a:blip>
            <a:stretch>
              <a:fillRect/>
            </a:stretch>
          </a:blipFill>
        </p:spPr>
      </p:sp>
      <p:sp>
        <p:nvSpPr>
          <p:cNvPr id="4" name="Freeform 4"/>
          <p:cNvSpPr/>
          <p:nvPr/>
        </p:nvSpPr>
        <p:spPr>
          <a:xfrm>
            <a:off x="14173200" y="-3779202"/>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3">
              <a:alphaModFix amt="80000"/>
            </a:blip>
            <a:stretch>
              <a:fillRect/>
            </a:stretch>
          </a:blipFill>
        </p:spPr>
      </p:sp>
      <p:sp>
        <p:nvSpPr>
          <p:cNvPr id="5" name="Freeform 5"/>
          <p:cNvSpPr/>
          <p:nvPr/>
        </p:nvSpPr>
        <p:spPr>
          <a:xfrm>
            <a:off x="16435597" y="8434597"/>
            <a:ext cx="823703" cy="823703"/>
          </a:xfrm>
          <a:custGeom>
            <a:avLst/>
            <a:gdLst/>
            <a:ahLst/>
            <a:cxnLst/>
            <a:rect l="l" t="t" r="r" b="b"/>
            <a:pathLst>
              <a:path w="823703" h="823703">
                <a:moveTo>
                  <a:pt x="0" y="0"/>
                </a:moveTo>
                <a:lnTo>
                  <a:pt x="823703" y="0"/>
                </a:lnTo>
                <a:lnTo>
                  <a:pt x="823703" y="823703"/>
                </a:lnTo>
                <a:lnTo>
                  <a:pt x="0" y="82370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6" name="Freeform 6"/>
          <p:cNvSpPr/>
          <p:nvPr/>
        </p:nvSpPr>
        <p:spPr>
          <a:xfrm>
            <a:off x="-4165854" y="1623504"/>
            <a:ext cx="7039992" cy="7039992"/>
          </a:xfrm>
          <a:custGeom>
            <a:avLst/>
            <a:gdLst/>
            <a:ahLst/>
            <a:cxnLst/>
            <a:rect l="l" t="t" r="r" b="b"/>
            <a:pathLst>
              <a:path w="7039992" h="7039992">
                <a:moveTo>
                  <a:pt x="0" y="0"/>
                </a:moveTo>
                <a:lnTo>
                  <a:pt x="7039991" y="0"/>
                </a:lnTo>
                <a:lnTo>
                  <a:pt x="7039991" y="7039992"/>
                </a:lnTo>
                <a:lnTo>
                  <a:pt x="0" y="7039992"/>
                </a:lnTo>
                <a:lnTo>
                  <a:pt x="0" y="0"/>
                </a:lnTo>
                <a:close/>
              </a:path>
            </a:pathLst>
          </a:custGeom>
          <a:blipFill>
            <a:blip r:embed="rId6">
              <a:alphaModFix amt="9999"/>
              <a:extLst>
                <a:ext uri="{96DAC541-7B7A-43D3-8B79-37D633B846F1}">
                  <asvg:svgBlip xmlns:asvg="http://schemas.microsoft.com/office/drawing/2016/SVG/main" xmlns="" r:embed="rId7"/>
                </a:ext>
              </a:extLst>
            </a:blip>
            <a:stretch>
              <a:fillRect/>
            </a:stretch>
          </a:blipFill>
        </p:spPr>
      </p:sp>
      <p:sp>
        <p:nvSpPr>
          <p:cNvPr id="7" name="Freeform 7"/>
          <p:cNvSpPr/>
          <p:nvPr/>
        </p:nvSpPr>
        <p:spPr>
          <a:xfrm>
            <a:off x="15412344" y="1394606"/>
            <a:ext cx="7039992" cy="7039992"/>
          </a:xfrm>
          <a:custGeom>
            <a:avLst/>
            <a:gdLst/>
            <a:ahLst/>
            <a:cxnLst/>
            <a:rect l="l" t="t" r="r" b="b"/>
            <a:pathLst>
              <a:path w="7039992" h="7039992">
                <a:moveTo>
                  <a:pt x="0" y="0"/>
                </a:moveTo>
                <a:lnTo>
                  <a:pt x="7039991" y="0"/>
                </a:lnTo>
                <a:lnTo>
                  <a:pt x="7039991" y="7039991"/>
                </a:lnTo>
                <a:lnTo>
                  <a:pt x="0" y="7039991"/>
                </a:lnTo>
                <a:lnTo>
                  <a:pt x="0" y="0"/>
                </a:lnTo>
                <a:close/>
              </a:path>
            </a:pathLst>
          </a:custGeom>
          <a:blipFill>
            <a:blip r:embed="rId6">
              <a:alphaModFix amt="9999"/>
              <a:extLst>
                <a:ext uri="{96DAC541-7B7A-43D3-8B79-37D633B846F1}">
                  <asvg:svgBlip xmlns:asvg="http://schemas.microsoft.com/office/drawing/2016/SVG/main" xmlns="" r:embed="rId7"/>
                </a:ext>
              </a:extLst>
            </a:blip>
            <a:stretch>
              <a:fillRect/>
            </a:stretch>
          </a:blipFill>
        </p:spPr>
      </p:sp>
      <p:sp>
        <p:nvSpPr>
          <p:cNvPr id="8" name="AutoShape 8"/>
          <p:cNvSpPr/>
          <p:nvPr/>
        </p:nvSpPr>
        <p:spPr>
          <a:xfrm flipV="1">
            <a:off x="6304607" y="3020572"/>
            <a:ext cx="5703127" cy="0"/>
          </a:xfrm>
          <a:prstGeom prst="line">
            <a:avLst/>
          </a:prstGeom>
          <a:ln w="19050" cap="flat">
            <a:solidFill>
              <a:srgbClr val="00694C"/>
            </a:solidFill>
            <a:prstDash val="solid"/>
            <a:headEnd type="none" w="sm" len="sm"/>
            <a:tailEnd type="none" w="sm" len="sm"/>
          </a:ln>
        </p:spPr>
      </p:sp>
      <p:sp>
        <p:nvSpPr>
          <p:cNvPr id="9" name="TextBox 9"/>
          <p:cNvSpPr txBox="1"/>
          <p:nvPr/>
        </p:nvSpPr>
        <p:spPr>
          <a:xfrm>
            <a:off x="2768824" y="1633029"/>
            <a:ext cx="12748833" cy="1387542"/>
          </a:xfrm>
          <a:prstGeom prst="rect">
            <a:avLst/>
          </a:prstGeom>
        </p:spPr>
        <p:txBody>
          <a:bodyPr lIns="0" tIns="0" rIns="0" bIns="0" rtlCol="0" anchor="t">
            <a:spAutoFit/>
          </a:bodyPr>
          <a:lstStyle/>
          <a:p>
            <a:pPr marL="0" lvl="1" indent="0" algn="ctr">
              <a:lnSpc>
                <a:spcPts val="10745"/>
              </a:lnSpc>
            </a:pPr>
            <a:r>
              <a:rPr lang="en-US" sz="9184" spc="-128">
                <a:solidFill>
                  <a:srgbClr val="00694C"/>
                </a:solidFill>
                <a:latin typeface="Helvetica World"/>
                <a:ea typeface="Helvetica World"/>
                <a:cs typeface="Helvetica World"/>
                <a:sym typeface="Helvetica World"/>
              </a:rPr>
              <a:t>Conclusion</a:t>
            </a:r>
          </a:p>
        </p:txBody>
      </p:sp>
      <p:sp>
        <p:nvSpPr>
          <p:cNvPr id="10" name="TextBox 10"/>
          <p:cNvSpPr txBox="1"/>
          <p:nvPr/>
        </p:nvSpPr>
        <p:spPr>
          <a:xfrm>
            <a:off x="3298168" y="3371284"/>
            <a:ext cx="11690146" cy="2632814"/>
          </a:xfrm>
          <a:prstGeom prst="rect">
            <a:avLst/>
          </a:prstGeom>
        </p:spPr>
        <p:txBody>
          <a:bodyPr lIns="0" tIns="0" rIns="0" bIns="0" rtlCol="0" anchor="t">
            <a:spAutoFit/>
          </a:bodyPr>
          <a:lstStyle/>
          <a:p>
            <a:pPr algn="ctr">
              <a:lnSpc>
                <a:spcPts val="4126"/>
              </a:lnSpc>
              <a:spcBef>
                <a:spcPct val="0"/>
              </a:spcBef>
            </a:pPr>
            <a:r>
              <a:rPr lang="en-US" sz="3527" spc="-49">
                <a:solidFill>
                  <a:srgbClr val="00694C"/>
                </a:solidFill>
                <a:latin typeface="Helvetica World"/>
                <a:ea typeface="Helvetica World"/>
                <a:cs typeface="Helvetica World"/>
                <a:sym typeface="Helvetica World"/>
              </a:rPr>
              <a:t>Cyclistic should focus on converting longer duration and evening casual riders by targeting their recreational behavior with digital campaigns that highlight convenience, savings, and lifestyle benefits of annual membership as well as by providing other membership plans.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357</Words>
  <Application>Microsoft Office PowerPoint</Application>
  <PresentationFormat>Custom</PresentationFormat>
  <Paragraphs>54</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Poppins</vt:lpstr>
      <vt:lpstr>Helvetica World</vt:lpstr>
      <vt:lpstr>Arial</vt:lpstr>
      <vt:lpstr>Helvetica World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Cyclistic Bike analysis</dc:title>
  <dc:creator>Usman</dc:creator>
  <cp:lastModifiedBy>Usman</cp:lastModifiedBy>
  <cp:revision>4</cp:revision>
  <dcterms:created xsi:type="dcterms:W3CDTF">2006-08-16T00:00:00Z</dcterms:created>
  <dcterms:modified xsi:type="dcterms:W3CDTF">2026-01-09T18:54:52Z</dcterms:modified>
  <dc:identifier>DAG972zWTKs</dc:identifier>
</cp:coreProperties>
</file>